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Quicksand Bold" panose="020B0604020202020204" charset="0"/>
      <p:regular r:id="rId13"/>
    </p:embeddedFont>
    <p:embeddedFont>
      <p:font typeface="เอฟซี โอนิกิริ" panose="020B0604020202020204" charset="-3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173E0B-90E9-4623-A15E-A1162045BC7F}" type="datetimeFigureOut">
              <a:rPr lang="en-ID" smtClean="0"/>
              <a:t>24/06/2026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41374-812E-415B-A6FD-D1527B70761E}" type="slidenum">
              <a:rPr lang="en-ID" smtClean="0"/>
              <a:t>‹#›</a:t>
            </a:fld>
            <a:endParaRPr lang="en-ID"/>
          </a:p>
        </p:txBody>
      </p:sp>
    </p:spTree>
    <p:extLst>
      <p:ext uri="{BB962C8B-B14F-4D97-AF65-F5344CB8AC3E}">
        <p14:creationId xmlns:p14="http://schemas.microsoft.com/office/powerpoint/2010/main" val="3174256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C3341374-812E-415B-A6FD-D1527B70761E}" type="slidenum">
              <a:rPr lang="en-ID" smtClean="0"/>
              <a:t>7</a:t>
            </a:fld>
            <a:endParaRPr lang="en-ID"/>
          </a:p>
        </p:txBody>
      </p:sp>
    </p:spTree>
    <p:extLst>
      <p:ext uri="{BB962C8B-B14F-4D97-AF65-F5344CB8AC3E}">
        <p14:creationId xmlns:p14="http://schemas.microsoft.com/office/powerpoint/2010/main" val="3731545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7.sv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141560" y="1156035"/>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273453" y="1148415"/>
            <a:ext cx="13773389" cy="8229600"/>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74962" y="1253357"/>
            <a:ext cx="10585423" cy="7780286"/>
          </a:xfrm>
          <a:custGeom>
            <a:avLst/>
            <a:gdLst/>
            <a:ahLst/>
            <a:cxnLst/>
            <a:rect l="l" t="t" r="r" b="b"/>
            <a:pathLst>
              <a:path w="10585423" h="7780286">
                <a:moveTo>
                  <a:pt x="0" y="0"/>
                </a:moveTo>
                <a:lnTo>
                  <a:pt x="10585423" y="0"/>
                </a:lnTo>
                <a:lnTo>
                  <a:pt x="10585423" y="7780286"/>
                </a:lnTo>
                <a:lnTo>
                  <a:pt x="0" y="77802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8105666" y="1253357"/>
            <a:ext cx="8824174" cy="7780286"/>
          </a:xfrm>
          <a:custGeom>
            <a:avLst/>
            <a:gdLst/>
            <a:ahLst/>
            <a:cxnLst/>
            <a:rect l="l" t="t" r="r" b="b"/>
            <a:pathLst>
              <a:path w="8824174" h="7780286">
                <a:moveTo>
                  <a:pt x="0" y="0"/>
                </a:moveTo>
                <a:lnTo>
                  <a:pt x="8824174" y="0"/>
                </a:lnTo>
                <a:lnTo>
                  <a:pt x="8824174" y="7780286"/>
                </a:lnTo>
                <a:lnTo>
                  <a:pt x="0" y="7780286"/>
                </a:lnTo>
                <a:lnTo>
                  <a:pt x="0" y="0"/>
                </a:lnTo>
                <a:close/>
              </a:path>
            </a:pathLst>
          </a:custGeom>
          <a:blipFill>
            <a:blip>
              <a:extLst>
                <a:ext uri="{96DAC541-7B7A-43D3-8B79-37D633B846F1}">
                  <asvg:svgBlip xmlns:asvg="http://schemas.microsoft.com/office/drawing/2016/SVG/main" r:embed="rId3"/>
                </a:ext>
              </a:extLst>
            </a:blip>
            <a:stretch>
              <a:fillRect l="-19959"/>
            </a:stretch>
          </a:blipFill>
          <a:ln cap="sq">
            <a:noFill/>
            <a:prstDash val="solid"/>
            <a:miter/>
          </a:ln>
        </p:spPr>
      </p:sp>
      <p:sp>
        <p:nvSpPr>
          <p:cNvPr id="6" name="TextBox 6"/>
          <p:cNvSpPr txBox="1"/>
          <p:nvPr/>
        </p:nvSpPr>
        <p:spPr>
          <a:xfrm>
            <a:off x="3064339" y="3030529"/>
            <a:ext cx="12159323" cy="2780347"/>
          </a:xfrm>
          <a:prstGeom prst="rect">
            <a:avLst/>
          </a:prstGeom>
        </p:spPr>
        <p:txBody>
          <a:bodyPr lIns="0" tIns="0" rIns="0" bIns="0" rtlCol="0" anchor="t">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SISTEM RUMAH SAKIT DIGITAL</a:t>
            </a:r>
          </a:p>
        </p:txBody>
      </p:sp>
      <p:sp>
        <p:nvSpPr>
          <p:cNvPr id="7" name="Freeform 7"/>
          <p:cNvSpPr/>
          <p:nvPr/>
        </p:nvSpPr>
        <p:spPr>
          <a:xfrm rot="-407473">
            <a:off x="14883406" y="7777876"/>
            <a:ext cx="3878817" cy="2511534"/>
          </a:xfrm>
          <a:custGeom>
            <a:avLst/>
            <a:gdLst/>
            <a:ahLst/>
            <a:cxnLst/>
            <a:rect l="l" t="t" r="r" b="b"/>
            <a:pathLst>
              <a:path w="3878817" h="2511534">
                <a:moveTo>
                  <a:pt x="0" y="0"/>
                </a:moveTo>
                <a:lnTo>
                  <a:pt x="3878818" y="0"/>
                </a:lnTo>
                <a:lnTo>
                  <a:pt x="3878818" y="2511534"/>
                </a:lnTo>
                <a:lnTo>
                  <a:pt x="0" y="251153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410595">
            <a:off x="-1046590" y="7810690"/>
            <a:ext cx="5043105" cy="2445906"/>
          </a:xfrm>
          <a:custGeom>
            <a:avLst/>
            <a:gdLst/>
            <a:ahLst/>
            <a:cxnLst/>
            <a:rect l="l" t="t" r="r" b="b"/>
            <a:pathLst>
              <a:path w="5043105" h="2445906">
                <a:moveTo>
                  <a:pt x="0" y="0"/>
                </a:moveTo>
                <a:lnTo>
                  <a:pt x="5043105" y="0"/>
                </a:lnTo>
                <a:lnTo>
                  <a:pt x="5043105" y="2445906"/>
                </a:lnTo>
                <a:lnTo>
                  <a:pt x="0" y="244590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rot="-1122752">
            <a:off x="15642757" y="679413"/>
            <a:ext cx="2002873" cy="2584353"/>
          </a:xfrm>
          <a:custGeom>
            <a:avLst/>
            <a:gdLst/>
            <a:ahLst/>
            <a:cxnLst/>
            <a:rect l="l" t="t" r="r" b="b"/>
            <a:pathLst>
              <a:path w="2002873" h="2584353">
                <a:moveTo>
                  <a:pt x="0" y="0"/>
                </a:moveTo>
                <a:lnTo>
                  <a:pt x="2002873" y="0"/>
                </a:lnTo>
                <a:lnTo>
                  <a:pt x="2002873" y="2584352"/>
                </a:lnTo>
                <a:lnTo>
                  <a:pt x="0" y="258435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rot="1027090">
            <a:off x="1635248" y="561481"/>
            <a:ext cx="2980439" cy="3516742"/>
          </a:xfrm>
          <a:custGeom>
            <a:avLst/>
            <a:gdLst/>
            <a:ahLst/>
            <a:cxnLst/>
            <a:rect l="l" t="t" r="r" b="b"/>
            <a:pathLst>
              <a:path w="2980439" h="3516742">
                <a:moveTo>
                  <a:pt x="0" y="0"/>
                </a:moveTo>
                <a:lnTo>
                  <a:pt x="2980439" y="0"/>
                </a:lnTo>
                <a:lnTo>
                  <a:pt x="2980439" y="3516742"/>
                </a:lnTo>
                <a:lnTo>
                  <a:pt x="0" y="3516742"/>
                </a:lnTo>
                <a:lnTo>
                  <a:pt x="0" y="0"/>
                </a:lnTo>
                <a:close/>
              </a:path>
            </a:pathLst>
          </a:custGeom>
          <a:blipFill>
            <a:blip>
              <a:extLst>
                <a:ext uri="{96DAC541-7B7A-43D3-8B79-37D633B846F1}">
                  <asvg:svgBlip xmlns:asvg="http://schemas.microsoft.com/office/drawing/2016/SVG/main" r:embed="rId7"/>
                </a:ext>
              </a:extLst>
            </a:blip>
            <a:stretch>
              <a:fillRect/>
            </a:stretch>
          </a:blipFill>
          <a:ln cap="sq">
            <a:noFill/>
            <a:prstDash val="solid"/>
            <a:miter/>
          </a:ln>
        </p:spPr>
      </p:sp>
      <p:sp>
        <p:nvSpPr>
          <p:cNvPr id="11" name="TextBox 11"/>
          <p:cNvSpPr txBox="1"/>
          <p:nvPr/>
        </p:nvSpPr>
        <p:spPr>
          <a:xfrm>
            <a:off x="7165293" y="4844165"/>
            <a:ext cx="3564026" cy="1156524"/>
          </a:xfrm>
          <a:prstGeom prst="rect">
            <a:avLst/>
          </a:prstGeom>
        </p:spPr>
        <p:txBody>
          <a:bodyPr lIns="0" tIns="0" rIns="0" bIns="0" rtlCol="0" anchor="t">
            <a:spAutoFit/>
          </a:bodyPr>
          <a:lstStyle/>
          <a:p>
            <a:pPr algn="ctr">
              <a:lnSpc>
                <a:spcPts val="8959"/>
              </a:lnSpc>
              <a:spcBef>
                <a:spcPct val="0"/>
              </a:spcBef>
            </a:pPr>
            <a:r>
              <a:rPr lang="en-US" sz="6399">
                <a:solidFill>
                  <a:srgbClr val="5170FF"/>
                </a:solidFill>
                <a:latin typeface="เอฟซี โอนิกิริ"/>
                <a:ea typeface="เอฟซี โอนิกิริ"/>
                <a:cs typeface="เอฟซี โอนิกิริ"/>
                <a:sym typeface="เอฟซี โอนิกิริ"/>
              </a:rPr>
              <a:t>KELOMPOK 3</a:t>
            </a:r>
          </a:p>
        </p:txBody>
      </p:sp>
      <p:sp>
        <p:nvSpPr>
          <p:cNvPr id="12" name="TextBox 12"/>
          <p:cNvSpPr txBox="1"/>
          <p:nvPr/>
        </p:nvSpPr>
        <p:spPr>
          <a:xfrm>
            <a:off x="11160148" y="5895914"/>
            <a:ext cx="3855357" cy="958847"/>
          </a:xfrm>
          <a:prstGeom prst="rect">
            <a:avLst/>
          </a:prstGeom>
        </p:spPr>
        <p:txBody>
          <a:bodyPr lIns="0" tIns="0" rIns="0" bIns="0" rtlCol="0" anchor="t">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ADITYA HAIKAL F</a:t>
            </a:r>
          </a:p>
        </p:txBody>
      </p:sp>
      <p:sp>
        <p:nvSpPr>
          <p:cNvPr id="13" name="TextBox 13"/>
          <p:cNvSpPr txBox="1"/>
          <p:nvPr/>
        </p:nvSpPr>
        <p:spPr>
          <a:xfrm>
            <a:off x="4401524" y="7162100"/>
            <a:ext cx="2984542" cy="918579"/>
          </a:xfrm>
          <a:prstGeom prst="rect">
            <a:avLst/>
          </a:prstGeom>
        </p:spPr>
        <p:txBody>
          <a:bodyPr lIns="0" tIns="0" rIns="0" bIns="0" rtlCol="0" anchor="t">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M.IGNA RIZKI</a:t>
            </a:r>
          </a:p>
        </p:txBody>
      </p:sp>
      <p:sp>
        <p:nvSpPr>
          <p:cNvPr id="14" name="TextBox 14"/>
          <p:cNvSpPr txBox="1"/>
          <p:nvPr/>
        </p:nvSpPr>
        <p:spPr>
          <a:xfrm>
            <a:off x="10729319" y="7008277"/>
            <a:ext cx="4461528" cy="993368"/>
          </a:xfrm>
          <a:prstGeom prst="rect">
            <a:avLst/>
          </a:prstGeom>
        </p:spPr>
        <p:txBody>
          <a:bodyPr lIns="0" tIns="0" rIns="0" bIns="0" rtlCol="0" anchor="t">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REVA SALWA ADHYA</a:t>
            </a:r>
          </a:p>
        </p:txBody>
      </p:sp>
      <p:sp>
        <p:nvSpPr>
          <p:cNvPr id="15" name="TextBox 15"/>
          <p:cNvSpPr txBox="1"/>
          <p:nvPr/>
        </p:nvSpPr>
        <p:spPr>
          <a:xfrm>
            <a:off x="4622297" y="6035347"/>
            <a:ext cx="2542997" cy="902283"/>
          </a:xfrm>
          <a:prstGeom prst="rect">
            <a:avLst/>
          </a:prstGeom>
        </p:spPr>
        <p:txBody>
          <a:bodyPr lIns="0" tIns="0" rIns="0" bIns="0" rtlCol="0" anchor="t">
            <a:spAutoFit/>
          </a:bodyPr>
          <a:lstStyle/>
          <a:p>
            <a:pPr algn="ctr">
              <a:lnSpc>
                <a:spcPts val="6922"/>
              </a:lnSpc>
              <a:spcBef>
                <a:spcPct val="0"/>
              </a:spcBef>
            </a:pPr>
            <a:r>
              <a:rPr lang="en-US" sz="4944">
                <a:solidFill>
                  <a:srgbClr val="5170FF"/>
                </a:solidFill>
                <a:latin typeface="เอฟซี โอนิกิริ"/>
                <a:ea typeface="เอฟซี โอนิกิริ"/>
                <a:cs typeface="เอฟซี โอนิกิริ"/>
                <a:sym typeface="เอฟซี โอนิกิริ"/>
              </a:rPr>
              <a:t>ADRIANDRA</a:t>
            </a:r>
          </a:p>
        </p:txBody>
      </p:sp>
      <p:sp>
        <p:nvSpPr>
          <p:cNvPr id="16" name="Freeform 16"/>
          <p:cNvSpPr/>
          <p:nvPr/>
        </p:nvSpPr>
        <p:spPr>
          <a:xfrm>
            <a:off x="8221062" y="6119310"/>
            <a:ext cx="1845875" cy="1987484"/>
          </a:xfrm>
          <a:custGeom>
            <a:avLst/>
            <a:gdLst/>
            <a:ahLst/>
            <a:cxnLst/>
            <a:rect l="l" t="t" r="r" b="b"/>
            <a:pathLst>
              <a:path w="1845875" h="1987484">
                <a:moveTo>
                  <a:pt x="0" y="0"/>
                </a:moveTo>
                <a:lnTo>
                  <a:pt x="1845876" y="0"/>
                </a:lnTo>
                <a:lnTo>
                  <a:pt x="1845876" y="1987483"/>
                </a:lnTo>
                <a:lnTo>
                  <a:pt x="0" y="1987483"/>
                </a:lnTo>
                <a:lnTo>
                  <a:pt x="0" y="0"/>
                </a:lnTo>
                <a:close/>
              </a:path>
            </a:pathLst>
          </a:custGeom>
          <a:blipFill>
            <a:blip>
              <a:extLst>
                <a:ext uri="{96DAC541-7B7A-43D3-8B79-37D633B846F1}">
                  <asvg:svgBlip xmlns:asvg="http://schemas.microsoft.com/office/drawing/2016/SVG/main" r:embed="rId8"/>
                </a:ext>
              </a:extLst>
            </a:blip>
            <a:stretch>
              <a:fillRect/>
            </a:stretch>
          </a:blipFill>
          <a:ln cap="sq">
            <a:noFill/>
            <a:prstDash val="solid"/>
            <a:miter/>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1" y="2186973"/>
            <a:ext cx="14751086"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212451" y="2711165"/>
            <a:ext cx="14075549" cy="7705408"/>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6716807" y="1872086"/>
            <a:ext cx="11571193" cy="6250801"/>
          </a:xfrm>
          <a:custGeom>
            <a:avLst/>
            <a:gdLst/>
            <a:ahLst/>
            <a:cxnLst/>
            <a:rect l="l" t="t" r="r" b="b"/>
            <a:pathLst>
              <a:path w="11571193" h="6250801">
                <a:moveTo>
                  <a:pt x="0" y="0"/>
                </a:moveTo>
                <a:lnTo>
                  <a:pt x="11571193" y="0"/>
                </a:lnTo>
                <a:lnTo>
                  <a:pt x="11571193" y="6250801"/>
                </a:lnTo>
                <a:lnTo>
                  <a:pt x="0" y="6250801"/>
                </a:lnTo>
                <a:lnTo>
                  <a:pt x="0" y="0"/>
                </a:lnTo>
                <a:close/>
              </a:path>
            </a:pathLst>
          </a:custGeom>
          <a:blipFill>
            <a:blip>
              <a:extLst>
                <a:ext uri="{96DAC541-7B7A-43D3-8B79-37D633B846F1}">
                  <asvg:svgBlip xmlns:asvg="http://schemas.microsoft.com/office/drawing/2016/SVG/main" r:embed="rId3"/>
                </a:ext>
              </a:extLst>
            </a:blip>
            <a:stretch>
              <a:fillRect l="-19959" b="-63216"/>
            </a:stretch>
          </a:blipFill>
          <a:ln cap="sq">
            <a:noFill/>
            <a:prstDash val="solid"/>
            <a:miter/>
          </a:ln>
        </p:spPr>
      </p:sp>
      <p:sp>
        <p:nvSpPr>
          <p:cNvPr id="5" name="Freeform 5"/>
          <p:cNvSpPr/>
          <p:nvPr/>
        </p:nvSpPr>
        <p:spPr>
          <a:xfrm flipH="1">
            <a:off x="14228606" y="-1143870"/>
            <a:ext cx="4528929" cy="3877895"/>
          </a:xfrm>
          <a:custGeom>
            <a:avLst/>
            <a:gdLst/>
            <a:ahLst/>
            <a:cxnLst/>
            <a:rect l="l" t="t" r="r" b="b"/>
            <a:pathLst>
              <a:path w="4528929" h="3877895">
                <a:moveTo>
                  <a:pt x="4528928" y="0"/>
                </a:moveTo>
                <a:lnTo>
                  <a:pt x="0" y="0"/>
                </a:lnTo>
                <a:lnTo>
                  <a:pt x="0" y="3877896"/>
                </a:lnTo>
                <a:lnTo>
                  <a:pt x="4528928" y="3877896"/>
                </a:lnTo>
                <a:lnTo>
                  <a:pt x="4528928"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0" y="1901991"/>
            <a:ext cx="11571193" cy="6250801"/>
          </a:xfrm>
          <a:custGeom>
            <a:avLst/>
            <a:gdLst/>
            <a:ahLst/>
            <a:cxnLst/>
            <a:rect l="l" t="t" r="r" b="b"/>
            <a:pathLst>
              <a:path w="11571193" h="6250801">
                <a:moveTo>
                  <a:pt x="0" y="0"/>
                </a:moveTo>
                <a:lnTo>
                  <a:pt x="11571193" y="0"/>
                </a:lnTo>
                <a:lnTo>
                  <a:pt x="11571193" y="6250801"/>
                </a:lnTo>
                <a:lnTo>
                  <a:pt x="0" y="6250801"/>
                </a:lnTo>
                <a:lnTo>
                  <a:pt x="0" y="0"/>
                </a:lnTo>
                <a:close/>
              </a:path>
            </a:pathLst>
          </a:custGeom>
          <a:blipFill>
            <a:blip>
              <a:extLst>
                <a:ext uri="{96DAC541-7B7A-43D3-8B79-37D633B846F1}">
                  <asvg:svgBlip xmlns:asvg="http://schemas.microsoft.com/office/drawing/2016/SVG/main" r:embed="rId3"/>
                </a:ext>
              </a:extLst>
            </a:blip>
            <a:stretch>
              <a:fillRect r="-19959" b="-63216"/>
            </a:stretch>
          </a:blipFill>
          <a:ln cap="sq">
            <a:noFill/>
            <a:prstDash val="solid"/>
            <a:miter/>
          </a:ln>
        </p:spPr>
      </p:sp>
      <p:sp>
        <p:nvSpPr>
          <p:cNvPr id="7" name="Freeform 7"/>
          <p:cNvSpPr/>
          <p:nvPr/>
        </p:nvSpPr>
        <p:spPr>
          <a:xfrm>
            <a:off x="0" y="6887905"/>
            <a:ext cx="10864378" cy="2918445"/>
          </a:xfrm>
          <a:custGeom>
            <a:avLst/>
            <a:gdLst/>
            <a:ahLst/>
            <a:cxnLst/>
            <a:rect l="l" t="t" r="r" b="b"/>
            <a:pathLst>
              <a:path w="10864378" h="2918445">
                <a:moveTo>
                  <a:pt x="0" y="0"/>
                </a:moveTo>
                <a:lnTo>
                  <a:pt x="10864378" y="0"/>
                </a:lnTo>
                <a:lnTo>
                  <a:pt x="10864378" y="2918445"/>
                </a:lnTo>
                <a:lnTo>
                  <a:pt x="0" y="2918445"/>
                </a:lnTo>
                <a:lnTo>
                  <a:pt x="0" y="0"/>
                </a:lnTo>
                <a:close/>
              </a:path>
            </a:pathLst>
          </a:custGeom>
          <a:blipFill>
            <a:blip>
              <a:extLst>
                <a:ext uri="{96DAC541-7B7A-43D3-8B79-37D633B846F1}">
                  <asvg:svgBlip xmlns:asvg="http://schemas.microsoft.com/office/drawing/2016/SVG/main" r:embed="rId3"/>
                </a:ext>
              </a:extLst>
            </a:blip>
            <a:stretch>
              <a:fillRect t="-228227" r="-19959"/>
            </a:stretch>
          </a:blipFill>
          <a:ln cap="sq">
            <a:noFill/>
            <a:prstDash val="solid"/>
            <a:miter/>
          </a:ln>
        </p:spPr>
      </p:sp>
      <p:sp>
        <p:nvSpPr>
          <p:cNvPr id="8" name="Freeform 8"/>
          <p:cNvSpPr/>
          <p:nvPr/>
        </p:nvSpPr>
        <p:spPr>
          <a:xfrm>
            <a:off x="7423622" y="6887905"/>
            <a:ext cx="10864378" cy="2918445"/>
          </a:xfrm>
          <a:custGeom>
            <a:avLst/>
            <a:gdLst/>
            <a:ahLst/>
            <a:cxnLst/>
            <a:rect l="l" t="t" r="r" b="b"/>
            <a:pathLst>
              <a:path w="10864378" h="2918445">
                <a:moveTo>
                  <a:pt x="0" y="0"/>
                </a:moveTo>
                <a:lnTo>
                  <a:pt x="10864378" y="0"/>
                </a:lnTo>
                <a:lnTo>
                  <a:pt x="10864378" y="2918445"/>
                </a:lnTo>
                <a:lnTo>
                  <a:pt x="0" y="2918445"/>
                </a:lnTo>
                <a:lnTo>
                  <a:pt x="0" y="0"/>
                </a:lnTo>
                <a:close/>
              </a:path>
            </a:pathLst>
          </a:custGeom>
          <a:blipFill>
            <a:blip>
              <a:extLst>
                <a:ext uri="{96DAC541-7B7A-43D3-8B79-37D633B846F1}">
                  <asvg:svgBlip xmlns:asvg="http://schemas.microsoft.com/office/drawing/2016/SVG/main" r:embed="rId3"/>
                </a:ext>
              </a:extLst>
            </a:blip>
            <a:stretch>
              <a:fillRect l="-19959" t="-228227"/>
            </a:stretch>
          </a:blipFill>
          <a:ln cap="sq">
            <a:noFill/>
            <a:prstDash val="solid"/>
            <a:miter/>
          </a:ln>
        </p:spPr>
      </p:sp>
      <p:sp>
        <p:nvSpPr>
          <p:cNvPr id="9" name="TextBox 9"/>
          <p:cNvSpPr txBox="1"/>
          <p:nvPr/>
        </p:nvSpPr>
        <p:spPr>
          <a:xfrm>
            <a:off x="3242014" y="-79397"/>
            <a:ext cx="11803972" cy="2044743"/>
          </a:xfrm>
          <a:prstGeom prst="rect">
            <a:avLst/>
          </a:prstGeom>
        </p:spPr>
        <p:txBody>
          <a:bodyPr lIns="0" tIns="0" rIns="0" bIns="0" rtlCol="0" anchor="t">
            <a:spAutoFit/>
          </a:bodyPr>
          <a:lstStyle/>
          <a:p>
            <a:pPr algn="ctr">
              <a:lnSpc>
                <a:spcPts val="12319"/>
              </a:lnSpc>
            </a:pPr>
            <a:r>
              <a:rPr lang="en-US" sz="8799">
                <a:solidFill>
                  <a:srgbClr val="5170FF"/>
                </a:solidFill>
                <a:latin typeface="เอฟซี โอนิกิริ"/>
                <a:ea typeface="เอฟซี โอนิกิริ"/>
                <a:cs typeface="เอฟซี โอนิกิริ"/>
                <a:sym typeface="เอฟซี โอนิกิริ"/>
              </a:rPr>
              <a:t>STUDI KASUS YANG DI PILIH</a:t>
            </a:r>
          </a:p>
          <a:p>
            <a:pPr algn="ctr">
              <a:lnSpc>
                <a:spcPts val="12319"/>
              </a:lnSpc>
              <a:spcBef>
                <a:spcPct val="0"/>
              </a:spcBef>
            </a:pPr>
            <a:endParaRPr lang="en-US" sz="8799">
              <a:solidFill>
                <a:srgbClr val="5170FF"/>
              </a:solidFill>
              <a:latin typeface="เอฟซี โอนิกิริ"/>
              <a:ea typeface="เอฟซี โอนิกิริ"/>
              <a:cs typeface="เอฟซี โอนิกิริ"/>
              <a:sym typeface="เอฟซี โอนิกิริ"/>
            </a:endParaRPr>
          </a:p>
        </p:txBody>
      </p:sp>
      <p:sp>
        <p:nvSpPr>
          <p:cNvPr id="10" name="TextBox 10"/>
          <p:cNvSpPr txBox="1"/>
          <p:nvPr/>
        </p:nvSpPr>
        <p:spPr>
          <a:xfrm>
            <a:off x="828189" y="4108041"/>
            <a:ext cx="16631622" cy="4839254"/>
          </a:xfrm>
          <a:prstGeom prst="rect">
            <a:avLst/>
          </a:prstGeom>
        </p:spPr>
        <p:txBody>
          <a:bodyPr lIns="0" tIns="0" rIns="0" bIns="0" rtlCol="0" anchor="t">
            <a:spAutoFit/>
          </a:bodyPr>
          <a:lstStyle/>
          <a:p>
            <a:pPr algn="ctr">
              <a:lnSpc>
                <a:spcPts val="4818"/>
              </a:lnSpc>
            </a:pPr>
            <a:r>
              <a:rPr lang="en-US" sz="2677" b="1">
                <a:solidFill>
                  <a:srgbClr val="000000"/>
                </a:solidFill>
                <a:latin typeface="Quicksand Bold"/>
                <a:ea typeface="Quicksand Bold"/>
                <a:cs typeface="Quicksand Bold"/>
                <a:sym typeface="Quicksand Bold"/>
              </a:rPr>
              <a:t>kelompok kami memilih studi kasus Sistem Rumah Sakit Digital. Sistem ini dirancang untuk membantu pengelolaan data pasien, jadwal dokter,antrean layanan, riwayat pemeriksaaan serta proses rujukan antar unit layanan dan kelompok kami menambahkan jadwal dokter bedasarkan nama.</a:t>
            </a:r>
          </a:p>
          <a:p>
            <a:pPr algn="ctr">
              <a:lnSpc>
                <a:spcPts val="4818"/>
              </a:lnSpc>
            </a:pPr>
            <a:r>
              <a:rPr lang="en-US" sz="2677" b="1">
                <a:solidFill>
                  <a:srgbClr val="000000"/>
                </a:solidFill>
                <a:latin typeface="Quicksand Bold"/>
                <a:ea typeface="Quicksand Bold"/>
                <a:cs typeface="Quicksand Bold"/>
                <a:sym typeface="Quicksand Bold"/>
              </a:rPr>
              <a:t>Saat ini pengelolaan data rumah sakit sering kali dilakukan secara manual sehingga berpotensi menyebabkan keterlambatan pencarian data, kesalahan pencatatan, dan kesulitan dalam mengelola antrean pasien. Oleh karena itu diperlukan sebuah sistem yang dapat membantu proses pengelolaan data secara lebih terstruktur dan efisien.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263757" y="1028700"/>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288275" y="1226806"/>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7787276" y="1028700"/>
            <a:ext cx="10971133" cy="5926647"/>
          </a:xfrm>
          <a:custGeom>
            <a:avLst/>
            <a:gdLst/>
            <a:ahLst/>
            <a:cxnLst/>
            <a:rect l="l" t="t" r="r" b="b"/>
            <a:pathLst>
              <a:path w="10971133" h="5926647">
                <a:moveTo>
                  <a:pt x="0" y="0"/>
                </a:moveTo>
                <a:lnTo>
                  <a:pt x="10971133" y="0"/>
                </a:lnTo>
                <a:lnTo>
                  <a:pt x="10971133" y="5926647"/>
                </a:lnTo>
                <a:lnTo>
                  <a:pt x="0" y="5926647"/>
                </a:lnTo>
                <a:lnTo>
                  <a:pt x="0" y="0"/>
                </a:lnTo>
                <a:close/>
              </a:path>
            </a:pathLst>
          </a:custGeom>
          <a:blipFill>
            <a:blip>
              <a:extLst>
                <a:ext uri="{96DAC541-7B7A-43D3-8B79-37D633B846F1}">
                  <asvg:svgBlip xmlns:asvg="http://schemas.microsoft.com/office/drawing/2016/SVG/main" r:embed="rId3"/>
                </a:ext>
              </a:extLst>
            </a:blip>
            <a:stretch>
              <a:fillRect l="-19959" b="-63216"/>
            </a:stretch>
          </a:blipFill>
          <a:ln cap="sq">
            <a:noFill/>
            <a:prstDash val="solid"/>
            <a:miter/>
          </a:ln>
        </p:spPr>
      </p:sp>
      <p:sp>
        <p:nvSpPr>
          <p:cNvPr id="5" name="Freeform 5"/>
          <p:cNvSpPr/>
          <p:nvPr/>
        </p:nvSpPr>
        <p:spPr>
          <a:xfrm>
            <a:off x="0" y="1028700"/>
            <a:ext cx="10971133" cy="5926647"/>
          </a:xfrm>
          <a:custGeom>
            <a:avLst/>
            <a:gdLst/>
            <a:ahLst/>
            <a:cxnLst/>
            <a:rect l="l" t="t" r="r" b="b"/>
            <a:pathLst>
              <a:path w="10971133" h="5926647">
                <a:moveTo>
                  <a:pt x="0" y="0"/>
                </a:moveTo>
                <a:lnTo>
                  <a:pt x="10971133" y="0"/>
                </a:lnTo>
                <a:lnTo>
                  <a:pt x="10971133" y="5926647"/>
                </a:lnTo>
                <a:lnTo>
                  <a:pt x="0" y="5926647"/>
                </a:lnTo>
                <a:lnTo>
                  <a:pt x="0" y="0"/>
                </a:lnTo>
                <a:close/>
              </a:path>
            </a:pathLst>
          </a:custGeom>
          <a:blipFill>
            <a:blip>
              <a:extLst>
                <a:ext uri="{96DAC541-7B7A-43D3-8B79-37D633B846F1}">
                  <asvg:svgBlip xmlns:asvg="http://schemas.microsoft.com/office/drawing/2016/SVG/main" r:embed="rId3"/>
                </a:ext>
              </a:extLst>
            </a:blip>
            <a:stretch>
              <a:fillRect r="-19959" b="-63216"/>
            </a:stretch>
          </a:blipFill>
          <a:ln cap="sq">
            <a:noFill/>
            <a:prstDash val="solid"/>
            <a:miter/>
          </a:ln>
        </p:spPr>
      </p:sp>
      <p:sp>
        <p:nvSpPr>
          <p:cNvPr id="6" name="Freeform 6"/>
          <p:cNvSpPr/>
          <p:nvPr/>
        </p:nvSpPr>
        <p:spPr>
          <a:xfrm>
            <a:off x="0" y="6887905"/>
            <a:ext cx="10299136" cy="2766607"/>
          </a:xfrm>
          <a:custGeom>
            <a:avLst/>
            <a:gdLst/>
            <a:ahLst/>
            <a:cxnLst/>
            <a:rect l="l" t="t" r="r" b="b"/>
            <a:pathLst>
              <a:path w="10299136" h="2766607">
                <a:moveTo>
                  <a:pt x="0" y="0"/>
                </a:moveTo>
                <a:lnTo>
                  <a:pt x="10299136" y="0"/>
                </a:lnTo>
                <a:lnTo>
                  <a:pt x="10299136" y="2766607"/>
                </a:lnTo>
                <a:lnTo>
                  <a:pt x="0" y="2766607"/>
                </a:lnTo>
                <a:lnTo>
                  <a:pt x="0" y="0"/>
                </a:lnTo>
                <a:close/>
              </a:path>
            </a:pathLst>
          </a:custGeom>
          <a:blipFill>
            <a:blip>
              <a:extLst>
                <a:ext uri="{96DAC541-7B7A-43D3-8B79-37D633B846F1}">
                  <asvg:svgBlip xmlns:asvg="http://schemas.microsoft.com/office/drawing/2016/SVG/main" r:embed="rId3"/>
                </a:ext>
              </a:extLst>
            </a:blip>
            <a:stretch>
              <a:fillRect t="-228227" r="-19959"/>
            </a:stretch>
          </a:blipFill>
          <a:ln cap="sq">
            <a:noFill/>
            <a:prstDash val="solid"/>
            <a:miter/>
          </a:ln>
        </p:spPr>
      </p:sp>
      <p:sp>
        <p:nvSpPr>
          <p:cNvPr id="7" name="Freeform 7"/>
          <p:cNvSpPr/>
          <p:nvPr/>
        </p:nvSpPr>
        <p:spPr>
          <a:xfrm>
            <a:off x="8373954" y="6811072"/>
            <a:ext cx="10384767" cy="2789610"/>
          </a:xfrm>
          <a:custGeom>
            <a:avLst/>
            <a:gdLst/>
            <a:ahLst/>
            <a:cxnLst/>
            <a:rect l="l" t="t" r="r" b="b"/>
            <a:pathLst>
              <a:path w="10384767" h="2789610">
                <a:moveTo>
                  <a:pt x="0" y="0"/>
                </a:moveTo>
                <a:lnTo>
                  <a:pt x="10384768" y="0"/>
                </a:lnTo>
                <a:lnTo>
                  <a:pt x="10384768" y="2789610"/>
                </a:lnTo>
                <a:lnTo>
                  <a:pt x="0" y="2789610"/>
                </a:lnTo>
                <a:lnTo>
                  <a:pt x="0" y="0"/>
                </a:lnTo>
                <a:close/>
              </a:path>
            </a:pathLst>
          </a:custGeom>
          <a:blipFill>
            <a:blip>
              <a:extLst>
                <a:ext uri="{96DAC541-7B7A-43D3-8B79-37D633B846F1}">
                  <asvg:svgBlip xmlns:asvg="http://schemas.microsoft.com/office/drawing/2016/SVG/main" r:embed="rId3"/>
                </a:ext>
              </a:extLst>
            </a:blip>
            <a:stretch>
              <a:fillRect l="-19959" t="-228227"/>
            </a:stretch>
          </a:blipFill>
          <a:ln cap="sq">
            <a:noFill/>
            <a:prstDash val="solid"/>
            <a:miter/>
          </a:ln>
        </p:spPr>
      </p:sp>
      <p:sp>
        <p:nvSpPr>
          <p:cNvPr id="8" name="TextBox 8"/>
          <p:cNvSpPr txBox="1"/>
          <p:nvPr/>
        </p:nvSpPr>
        <p:spPr>
          <a:xfrm>
            <a:off x="3096181" y="-93052"/>
            <a:ext cx="12095639" cy="2072054"/>
          </a:xfrm>
          <a:prstGeom prst="rect">
            <a:avLst/>
          </a:prstGeom>
        </p:spPr>
        <p:txBody>
          <a:bodyPr lIns="0" tIns="0" rIns="0" bIns="0" rtlCol="0" anchor="t">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ANALISIS KEBUTUHAN SISTEM</a:t>
            </a:r>
          </a:p>
        </p:txBody>
      </p:sp>
      <p:sp>
        <p:nvSpPr>
          <p:cNvPr id="9" name="TextBox 9"/>
          <p:cNvSpPr txBox="1"/>
          <p:nvPr/>
        </p:nvSpPr>
        <p:spPr>
          <a:xfrm>
            <a:off x="696745" y="3345904"/>
            <a:ext cx="17229439" cy="5517341"/>
          </a:xfrm>
          <a:prstGeom prst="rect">
            <a:avLst/>
          </a:prstGeom>
        </p:spPr>
        <p:txBody>
          <a:bodyPr lIns="0" tIns="0" rIns="0" bIns="0" rtlCol="0" anchor="t">
            <a:spAutoFit/>
          </a:bodyPr>
          <a:lstStyle/>
          <a:p>
            <a:pPr algn="ctr">
              <a:lnSpc>
                <a:spcPts val="4894"/>
              </a:lnSpc>
            </a:pPr>
            <a:r>
              <a:rPr lang="en-US" sz="2718" b="1">
                <a:solidFill>
                  <a:srgbClr val="000000"/>
                </a:solidFill>
                <a:latin typeface="Quicksand Bold"/>
                <a:ea typeface="Quicksand Bold"/>
                <a:cs typeface="Quicksand Bold"/>
                <a:sym typeface="Quicksand Bold"/>
              </a:rPr>
              <a:t>Sistem Rumah Sakit Digital memiliki beberapa kebutuhan fungsional utama. Pertama, sistem harus melakukan pengelolaan data pasien dengan kemampuan menambah, mencari berdasarkan ID, menampilkan, dan menghapus data pasien. Kedua, sistem menyediakan manajemen jadwal dokter dengan menampilkan daftar dokter beserta spesialisasi dan jam praktik, serta fitur pengurutan nama dokter secara alfabetis (A-Z). Ketiga, sistem mengelola antrean pelayanan otomatis dengan prinsip FIFO yang memberikan nomor antrean dan menampilkan posisi pasien. Keempat, sistem menyimpan dan menampilkan riwayat pemeriksaan serta rekam medis pasien agar dapat diakses untuk keperluan pemeriksaan berikutnya. Terakhir, sistem memfasilitasi pengelolaan rujukan pasien antar unit pelayanan dengan pencatatan lengkap untuk memastikan kontinuitas perawatan.</a:t>
            </a:r>
          </a:p>
        </p:txBody>
      </p:sp>
      <p:sp>
        <p:nvSpPr>
          <p:cNvPr id="10" name="Freeform 10"/>
          <p:cNvSpPr/>
          <p:nvPr/>
        </p:nvSpPr>
        <p:spPr>
          <a:xfrm flipH="1">
            <a:off x="14057199" y="-560847"/>
            <a:ext cx="4528929" cy="3877895"/>
          </a:xfrm>
          <a:custGeom>
            <a:avLst/>
            <a:gdLst/>
            <a:ahLst/>
            <a:cxnLst/>
            <a:rect l="l" t="t" r="r" b="b"/>
            <a:pathLst>
              <a:path w="4528929" h="3877895">
                <a:moveTo>
                  <a:pt x="4528929" y="0"/>
                </a:moveTo>
                <a:lnTo>
                  <a:pt x="0" y="0"/>
                </a:lnTo>
                <a:lnTo>
                  <a:pt x="0" y="3877895"/>
                </a:lnTo>
                <a:lnTo>
                  <a:pt x="4528929" y="3877895"/>
                </a:lnTo>
                <a:lnTo>
                  <a:pt x="4528929"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0" y="1866900"/>
            <a:ext cx="12566057" cy="73914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6343497" y="1626249"/>
            <a:ext cx="11944503" cy="6641451"/>
          </a:xfrm>
          <a:custGeom>
            <a:avLst/>
            <a:gdLst/>
            <a:ahLst/>
            <a:cxnLst/>
            <a:rect l="l" t="t" r="r" b="b"/>
            <a:pathLst>
              <a:path w="12146779" h="6561735">
                <a:moveTo>
                  <a:pt x="0" y="0"/>
                </a:moveTo>
                <a:lnTo>
                  <a:pt x="12146780" y="0"/>
                </a:lnTo>
                <a:lnTo>
                  <a:pt x="12146780" y="6561735"/>
                </a:lnTo>
                <a:lnTo>
                  <a:pt x="0" y="6561735"/>
                </a:lnTo>
                <a:lnTo>
                  <a:pt x="0" y="0"/>
                </a:lnTo>
                <a:close/>
              </a:path>
            </a:pathLst>
          </a:custGeom>
          <a:blipFill>
            <a:blip>
              <a:extLst>
                <a:ext uri="{96DAC541-7B7A-43D3-8B79-37D633B846F1}">
                  <asvg:svgBlip xmlns:asvg="http://schemas.microsoft.com/office/drawing/2016/SVG/main" r:embed="rId3"/>
                </a:ext>
              </a:extLst>
            </a:blip>
            <a:stretch>
              <a:fillRect l="-19959" b="-63216"/>
            </a:stretch>
          </a:blipFill>
          <a:ln cap="sq">
            <a:noFill/>
            <a:prstDash val="solid"/>
            <a:miter/>
          </a:ln>
        </p:spPr>
      </p:sp>
      <p:sp>
        <p:nvSpPr>
          <p:cNvPr id="4" name="Freeform 4"/>
          <p:cNvSpPr/>
          <p:nvPr/>
        </p:nvSpPr>
        <p:spPr>
          <a:xfrm>
            <a:off x="0" y="1669315"/>
            <a:ext cx="11601452" cy="6293585"/>
          </a:xfrm>
          <a:custGeom>
            <a:avLst/>
            <a:gdLst/>
            <a:ahLst/>
            <a:cxnLst/>
            <a:rect l="l" t="t" r="r" b="b"/>
            <a:pathLst>
              <a:path w="11844179" h="6398269">
                <a:moveTo>
                  <a:pt x="0" y="0"/>
                </a:moveTo>
                <a:lnTo>
                  <a:pt x="11844179" y="0"/>
                </a:lnTo>
                <a:lnTo>
                  <a:pt x="11844179" y="6398270"/>
                </a:lnTo>
                <a:lnTo>
                  <a:pt x="0" y="6398270"/>
                </a:lnTo>
                <a:lnTo>
                  <a:pt x="0" y="0"/>
                </a:lnTo>
                <a:close/>
              </a:path>
            </a:pathLst>
          </a:custGeom>
          <a:blipFill>
            <a:blip>
              <a:extLst>
                <a:ext uri="{96DAC541-7B7A-43D3-8B79-37D633B846F1}">
                  <asvg:svgBlip xmlns:asvg="http://schemas.microsoft.com/office/drawing/2016/SVG/main" r:embed="rId3"/>
                </a:ext>
              </a:extLst>
            </a:blip>
            <a:stretch>
              <a:fillRect r="-19959" b="-63216"/>
            </a:stretch>
          </a:blipFill>
          <a:ln cap="sq">
            <a:noFill/>
            <a:prstDash val="solid"/>
            <a:miter/>
          </a:ln>
        </p:spPr>
      </p:sp>
      <p:sp>
        <p:nvSpPr>
          <p:cNvPr id="5" name="Freeform 5"/>
          <p:cNvSpPr/>
          <p:nvPr/>
        </p:nvSpPr>
        <p:spPr>
          <a:xfrm>
            <a:off x="0" y="6887905"/>
            <a:ext cx="10299136" cy="2766607"/>
          </a:xfrm>
          <a:custGeom>
            <a:avLst/>
            <a:gdLst/>
            <a:ahLst/>
            <a:cxnLst/>
            <a:rect l="l" t="t" r="r" b="b"/>
            <a:pathLst>
              <a:path w="10299136" h="2766607">
                <a:moveTo>
                  <a:pt x="0" y="0"/>
                </a:moveTo>
                <a:lnTo>
                  <a:pt x="10299136" y="0"/>
                </a:lnTo>
                <a:lnTo>
                  <a:pt x="10299136" y="2766607"/>
                </a:lnTo>
                <a:lnTo>
                  <a:pt x="0" y="2766607"/>
                </a:lnTo>
                <a:lnTo>
                  <a:pt x="0" y="0"/>
                </a:lnTo>
                <a:close/>
              </a:path>
            </a:pathLst>
          </a:custGeom>
          <a:blipFill>
            <a:blip>
              <a:extLst>
                <a:ext uri="{96DAC541-7B7A-43D3-8B79-37D633B846F1}">
                  <asvg:svgBlip xmlns:asvg="http://schemas.microsoft.com/office/drawing/2016/SVG/main" r:embed="rId3"/>
                </a:ext>
              </a:extLst>
            </a:blip>
            <a:stretch>
              <a:fillRect t="-228227" r="-19959"/>
            </a:stretch>
          </a:blipFill>
          <a:ln cap="sq">
            <a:noFill/>
            <a:prstDash val="solid"/>
            <a:miter/>
          </a:ln>
        </p:spPr>
      </p:sp>
      <p:sp>
        <p:nvSpPr>
          <p:cNvPr id="6" name="Freeform 6"/>
          <p:cNvSpPr/>
          <p:nvPr/>
        </p:nvSpPr>
        <p:spPr>
          <a:xfrm>
            <a:off x="8105666" y="6887905"/>
            <a:ext cx="10182334" cy="2735231"/>
          </a:xfrm>
          <a:custGeom>
            <a:avLst/>
            <a:gdLst/>
            <a:ahLst/>
            <a:cxnLst/>
            <a:rect l="l" t="t" r="r" b="b"/>
            <a:pathLst>
              <a:path w="10182334" h="2735231">
                <a:moveTo>
                  <a:pt x="0" y="0"/>
                </a:moveTo>
                <a:lnTo>
                  <a:pt x="10182334" y="0"/>
                </a:lnTo>
                <a:lnTo>
                  <a:pt x="10182334" y="2735231"/>
                </a:lnTo>
                <a:lnTo>
                  <a:pt x="0" y="2735231"/>
                </a:lnTo>
                <a:lnTo>
                  <a:pt x="0" y="0"/>
                </a:lnTo>
                <a:close/>
              </a:path>
            </a:pathLst>
          </a:custGeom>
          <a:blipFill>
            <a:blip>
              <a:extLst>
                <a:ext uri="{96DAC541-7B7A-43D3-8B79-37D633B846F1}">
                  <asvg:svgBlip xmlns:asvg="http://schemas.microsoft.com/office/drawing/2016/SVG/main" r:embed="rId3"/>
                </a:ext>
              </a:extLst>
            </a:blip>
            <a:stretch>
              <a:fillRect l="-19959" t="-228227"/>
            </a:stretch>
          </a:blipFill>
          <a:ln cap="sq">
            <a:noFill/>
            <a:prstDash val="solid"/>
            <a:miter/>
          </a:ln>
        </p:spPr>
      </p:sp>
      <p:sp>
        <p:nvSpPr>
          <p:cNvPr id="7" name="TextBox 7"/>
          <p:cNvSpPr txBox="1"/>
          <p:nvPr/>
        </p:nvSpPr>
        <p:spPr>
          <a:xfrm>
            <a:off x="4109993" y="-228600"/>
            <a:ext cx="10068014" cy="2667785"/>
          </a:xfrm>
          <a:prstGeom prst="rect">
            <a:avLst/>
          </a:prstGeom>
        </p:spPr>
        <p:txBody>
          <a:bodyPr lIns="0" tIns="0" rIns="0" bIns="0" rtlCol="0" anchor="t">
            <a:spAutoFit/>
          </a:bodyPr>
          <a:lstStyle/>
          <a:p>
            <a:pPr algn="ctr">
              <a:lnSpc>
                <a:spcPts val="16658"/>
              </a:lnSpc>
              <a:spcBef>
                <a:spcPct val="0"/>
              </a:spcBef>
            </a:pPr>
            <a:r>
              <a:rPr lang="en-US" sz="11899">
                <a:solidFill>
                  <a:srgbClr val="5170FF"/>
                </a:solidFill>
                <a:latin typeface="เอฟซี โอนิกิริ"/>
                <a:ea typeface="เอฟซี โอนิกิริ"/>
                <a:cs typeface="เอฟซี โอนิกิริ"/>
                <a:sym typeface="เอฟซี โอนิกิริ"/>
              </a:rPr>
              <a:t>KERANGKA UTAMA</a:t>
            </a:r>
          </a:p>
        </p:txBody>
      </p:sp>
      <p:sp>
        <p:nvSpPr>
          <p:cNvPr id="8" name="TextBox 8"/>
          <p:cNvSpPr txBox="1"/>
          <p:nvPr/>
        </p:nvSpPr>
        <p:spPr>
          <a:xfrm>
            <a:off x="885139" y="4059238"/>
            <a:ext cx="17193364" cy="5952090"/>
          </a:xfrm>
          <a:prstGeom prst="rect">
            <a:avLst/>
          </a:prstGeom>
        </p:spPr>
        <p:txBody>
          <a:bodyPr lIns="0" tIns="0" rIns="0" bIns="0" rtlCol="0" anchor="t">
            <a:spAutoFit/>
          </a:bodyPr>
          <a:lstStyle/>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Menampilkan jadwal dokter.</a:t>
            </a:r>
          </a:p>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Menambah data pasien baru</a:t>
            </a:r>
          </a:p>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Mencari data pasien berdasarkan ID pasien.</a:t>
            </a:r>
          </a:p>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Menghapus data pasien.</a:t>
            </a:r>
          </a:p>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Menambahkan pasien ke antrean pelayanan.</a:t>
            </a:r>
          </a:p>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Mengelola proses rujukan pasien ke unit lain</a:t>
            </a:r>
          </a:p>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Mengurutkan jadwal dokter berdasarkan nama.</a:t>
            </a:r>
          </a:p>
          <a:p>
            <a:pPr marL="569670" lvl="1" indent="-284835" algn="just">
              <a:lnSpc>
                <a:spcPts val="4749"/>
              </a:lnSpc>
              <a:buFont typeface="Arial"/>
              <a:buChar char="•"/>
            </a:pPr>
            <a:r>
              <a:rPr lang="en-US" sz="2638" b="1">
                <a:solidFill>
                  <a:srgbClr val="000000"/>
                </a:solidFill>
                <a:latin typeface="Quicksand Bold"/>
                <a:ea typeface="Quicksand Bold"/>
                <a:cs typeface="Quicksand Bold"/>
                <a:sym typeface="Quicksand Bold"/>
              </a:rPr>
              <a:t>Menyimpan dan menampilkan riwayat pemeriksaan pasien.</a:t>
            </a:r>
          </a:p>
          <a:p>
            <a:pPr algn="just">
              <a:lnSpc>
                <a:spcPts val="4749"/>
              </a:lnSpc>
            </a:pPr>
            <a:endParaRPr lang="en-US" sz="2638" b="1">
              <a:solidFill>
                <a:srgbClr val="000000"/>
              </a:solidFill>
              <a:latin typeface="Quicksand Bold"/>
              <a:ea typeface="Quicksand Bold"/>
              <a:cs typeface="Quicksand Bold"/>
              <a:sym typeface="Quicksand Bold"/>
            </a:endParaRPr>
          </a:p>
          <a:p>
            <a:pPr algn="just">
              <a:lnSpc>
                <a:spcPts val="4749"/>
              </a:lnSpc>
            </a:pPr>
            <a:endParaRPr lang="en-US" sz="2638" b="1">
              <a:solidFill>
                <a:srgbClr val="000000"/>
              </a:solidFill>
              <a:latin typeface="Quicksand Bold"/>
              <a:ea typeface="Quicksand Bold"/>
              <a:cs typeface="Quicksand Bold"/>
              <a:sym typeface="Quicksand Bold"/>
            </a:endParaRPr>
          </a:p>
        </p:txBody>
      </p:sp>
      <p:sp>
        <p:nvSpPr>
          <p:cNvPr id="9" name="Freeform 9"/>
          <p:cNvSpPr/>
          <p:nvPr/>
        </p:nvSpPr>
        <p:spPr>
          <a:xfrm flipH="1">
            <a:off x="13759071" y="5380405"/>
            <a:ext cx="4528929" cy="3877895"/>
          </a:xfrm>
          <a:custGeom>
            <a:avLst/>
            <a:gdLst/>
            <a:ahLst/>
            <a:cxnLst/>
            <a:rect l="l" t="t" r="r" b="b"/>
            <a:pathLst>
              <a:path w="4528929" h="3877895">
                <a:moveTo>
                  <a:pt x="4528929" y="0"/>
                </a:moveTo>
                <a:lnTo>
                  <a:pt x="0" y="0"/>
                </a:lnTo>
                <a:lnTo>
                  <a:pt x="0" y="3877895"/>
                </a:lnTo>
                <a:lnTo>
                  <a:pt x="4528929" y="3877895"/>
                </a:lnTo>
                <a:lnTo>
                  <a:pt x="4528929"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rot="-1122752" flipH="1">
            <a:off x="1338921" y="-206387"/>
            <a:ext cx="2513321" cy="3242995"/>
          </a:xfrm>
          <a:custGeom>
            <a:avLst/>
            <a:gdLst/>
            <a:ahLst/>
            <a:cxnLst/>
            <a:rect l="l" t="t" r="r" b="b"/>
            <a:pathLst>
              <a:path w="2513321" h="3242995">
                <a:moveTo>
                  <a:pt x="2513322" y="0"/>
                </a:moveTo>
                <a:lnTo>
                  <a:pt x="0" y="0"/>
                </a:lnTo>
                <a:lnTo>
                  <a:pt x="0" y="3242996"/>
                </a:lnTo>
                <a:lnTo>
                  <a:pt x="2513322" y="3242996"/>
                </a:lnTo>
                <a:lnTo>
                  <a:pt x="2513322"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292158" y="1332708"/>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573948" y="1599617"/>
            <a:ext cx="13773389" cy="8229600"/>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6937435" y="2015588"/>
            <a:ext cx="11305549" cy="6107299"/>
          </a:xfrm>
          <a:custGeom>
            <a:avLst/>
            <a:gdLst/>
            <a:ahLst/>
            <a:cxnLst/>
            <a:rect l="l" t="t" r="r" b="b"/>
            <a:pathLst>
              <a:path w="11305549" h="6107299">
                <a:moveTo>
                  <a:pt x="0" y="0"/>
                </a:moveTo>
                <a:lnTo>
                  <a:pt x="11305549" y="0"/>
                </a:lnTo>
                <a:lnTo>
                  <a:pt x="11305549" y="6107299"/>
                </a:lnTo>
                <a:lnTo>
                  <a:pt x="0" y="6107299"/>
                </a:lnTo>
                <a:lnTo>
                  <a:pt x="0" y="0"/>
                </a:lnTo>
                <a:close/>
              </a:path>
            </a:pathLst>
          </a:custGeom>
          <a:blipFill>
            <a:blip>
              <a:extLst>
                <a:ext uri="{96DAC541-7B7A-43D3-8B79-37D633B846F1}">
                  <asvg:svgBlip xmlns:asvg="http://schemas.microsoft.com/office/drawing/2016/SVG/main" r:embed="rId3"/>
                </a:ext>
              </a:extLst>
            </a:blip>
            <a:stretch>
              <a:fillRect l="-19959" b="-63216"/>
            </a:stretch>
          </a:blipFill>
          <a:ln cap="sq">
            <a:noFill/>
            <a:prstDash val="solid"/>
            <a:miter/>
          </a:ln>
        </p:spPr>
      </p:sp>
      <p:sp>
        <p:nvSpPr>
          <p:cNvPr id="5" name="Freeform 5"/>
          <p:cNvSpPr/>
          <p:nvPr/>
        </p:nvSpPr>
        <p:spPr>
          <a:xfrm>
            <a:off x="0" y="2015588"/>
            <a:ext cx="11305549" cy="6107299"/>
          </a:xfrm>
          <a:custGeom>
            <a:avLst/>
            <a:gdLst/>
            <a:ahLst/>
            <a:cxnLst/>
            <a:rect l="l" t="t" r="r" b="b"/>
            <a:pathLst>
              <a:path w="11305549" h="6107299">
                <a:moveTo>
                  <a:pt x="0" y="0"/>
                </a:moveTo>
                <a:lnTo>
                  <a:pt x="11305549" y="0"/>
                </a:lnTo>
                <a:lnTo>
                  <a:pt x="11305549" y="6107299"/>
                </a:lnTo>
                <a:lnTo>
                  <a:pt x="0" y="6107299"/>
                </a:lnTo>
                <a:lnTo>
                  <a:pt x="0" y="0"/>
                </a:lnTo>
                <a:close/>
              </a:path>
            </a:pathLst>
          </a:custGeom>
          <a:blipFill>
            <a:blip>
              <a:extLst>
                <a:ext uri="{96DAC541-7B7A-43D3-8B79-37D633B846F1}">
                  <asvg:svgBlip xmlns:asvg="http://schemas.microsoft.com/office/drawing/2016/SVG/main" r:embed="rId3"/>
                </a:ext>
              </a:extLst>
            </a:blip>
            <a:stretch>
              <a:fillRect r="-19959" b="-63216"/>
            </a:stretch>
          </a:blipFill>
          <a:ln cap="sq">
            <a:noFill/>
            <a:prstDash val="solid"/>
            <a:miter/>
          </a:ln>
        </p:spPr>
      </p:sp>
      <p:sp>
        <p:nvSpPr>
          <p:cNvPr id="6" name="Freeform 6"/>
          <p:cNvSpPr/>
          <p:nvPr/>
        </p:nvSpPr>
        <p:spPr>
          <a:xfrm>
            <a:off x="0" y="6887905"/>
            <a:ext cx="11305549" cy="3036955"/>
          </a:xfrm>
          <a:custGeom>
            <a:avLst/>
            <a:gdLst/>
            <a:ahLst/>
            <a:cxnLst/>
            <a:rect l="l" t="t" r="r" b="b"/>
            <a:pathLst>
              <a:path w="11305549" h="3036955">
                <a:moveTo>
                  <a:pt x="0" y="0"/>
                </a:moveTo>
                <a:lnTo>
                  <a:pt x="11305549" y="0"/>
                </a:lnTo>
                <a:lnTo>
                  <a:pt x="11305549" y="3036955"/>
                </a:lnTo>
                <a:lnTo>
                  <a:pt x="0" y="3036955"/>
                </a:lnTo>
                <a:lnTo>
                  <a:pt x="0" y="0"/>
                </a:lnTo>
                <a:close/>
              </a:path>
            </a:pathLst>
          </a:custGeom>
          <a:blipFill>
            <a:blip>
              <a:extLst>
                <a:ext uri="{96DAC541-7B7A-43D3-8B79-37D633B846F1}">
                  <asvg:svgBlip xmlns:asvg="http://schemas.microsoft.com/office/drawing/2016/SVG/main" r:embed="rId3"/>
                </a:ext>
              </a:extLst>
            </a:blip>
            <a:stretch>
              <a:fillRect t="-228227" r="-19959"/>
            </a:stretch>
          </a:blipFill>
          <a:ln cap="sq">
            <a:noFill/>
            <a:prstDash val="solid"/>
            <a:miter/>
          </a:ln>
        </p:spPr>
      </p:sp>
      <p:sp>
        <p:nvSpPr>
          <p:cNvPr id="7" name="Freeform 7"/>
          <p:cNvSpPr/>
          <p:nvPr/>
        </p:nvSpPr>
        <p:spPr>
          <a:xfrm>
            <a:off x="7102541" y="6932257"/>
            <a:ext cx="11140442" cy="2992603"/>
          </a:xfrm>
          <a:custGeom>
            <a:avLst/>
            <a:gdLst/>
            <a:ahLst/>
            <a:cxnLst/>
            <a:rect l="l" t="t" r="r" b="b"/>
            <a:pathLst>
              <a:path w="11140442" h="2992603">
                <a:moveTo>
                  <a:pt x="0" y="0"/>
                </a:moveTo>
                <a:lnTo>
                  <a:pt x="11140443" y="0"/>
                </a:lnTo>
                <a:lnTo>
                  <a:pt x="11140443" y="2992603"/>
                </a:lnTo>
                <a:lnTo>
                  <a:pt x="0" y="2992603"/>
                </a:lnTo>
                <a:lnTo>
                  <a:pt x="0" y="0"/>
                </a:lnTo>
                <a:close/>
              </a:path>
            </a:pathLst>
          </a:custGeom>
          <a:blipFill>
            <a:blip>
              <a:extLst>
                <a:ext uri="{96DAC541-7B7A-43D3-8B79-37D633B846F1}">
                  <asvg:svgBlip xmlns:asvg="http://schemas.microsoft.com/office/drawing/2016/SVG/main" r:embed="rId3"/>
                </a:ext>
              </a:extLst>
            </a:blip>
            <a:stretch>
              <a:fillRect l="-19959" t="-228227"/>
            </a:stretch>
          </a:blipFill>
          <a:ln cap="sq">
            <a:noFill/>
            <a:prstDash val="solid"/>
            <a:miter/>
          </a:ln>
        </p:spPr>
      </p:sp>
      <p:sp>
        <p:nvSpPr>
          <p:cNvPr id="8" name="Freeform 8"/>
          <p:cNvSpPr/>
          <p:nvPr/>
        </p:nvSpPr>
        <p:spPr>
          <a:xfrm rot="1027090">
            <a:off x="15017226" y="-581684"/>
            <a:ext cx="3309474" cy="3904984"/>
          </a:xfrm>
          <a:custGeom>
            <a:avLst/>
            <a:gdLst/>
            <a:ahLst/>
            <a:cxnLst/>
            <a:rect l="l" t="t" r="r" b="b"/>
            <a:pathLst>
              <a:path w="3309474" h="3904984">
                <a:moveTo>
                  <a:pt x="0" y="0"/>
                </a:moveTo>
                <a:lnTo>
                  <a:pt x="3309474" y="0"/>
                </a:lnTo>
                <a:lnTo>
                  <a:pt x="3309474" y="3904983"/>
                </a:lnTo>
                <a:lnTo>
                  <a:pt x="0" y="3904983"/>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9" name="TextBox 9"/>
          <p:cNvSpPr txBox="1"/>
          <p:nvPr/>
        </p:nvSpPr>
        <p:spPr>
          <a:xfrm>
            <a:off x="1890434" y="-171450"/>
            <a:ext cx="14507132" cy="2319425"/>
          </a:xfrm>
          <a:prstGeom prst="rect">
            <a:avLst/>
          </a:prstGeom>
        </p:spPr>
        <p:txBody>
          <a:bodyPr lIns="0" tIns="0" rIns="0" bIns="0" rtlCol="0" anchor="t">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STRUKTUR DATA YANG DI GUNAKAN</a:t>
            </a:r>
          </a:p>
        </p:txBody>
      </p:sp>
      <p:sp>
        <p:nvSpPr>
          <p:cNvPr id="10" name="TextBox 10"/>
          <p:cNvSpPr txBox="1"/>
          <p:nvPr/>
        </p:nvSpPr>
        <p:spPr>
          <a:xfrm>
            <a:off x="824954" y="4183765"/>
            <a:ext cx="17463046" cy="6958935"/>
          </a:xfrm>
          <a:prstGeom prst="rect">
            <a:avLst/>
          </a:prstGeom>
        </p:spPr>
        <p:txBody>
          <a:bodyPr lIns="0" tIns="0" rIns="0" bIns="0" rtlCol="0" anchor="t">
            <a:spAutoFit/>
          </a:bodyPr>
          <a:lstStyle/>
          <a:p>
            <a:pPr marL="604604" lvl="1" indent="-302302" algn="l">
              <a:lnSpc>
                <a:spcPts val="5040"/>
              </a:lnSpc>
              <a:buFont typeface="Arial"/>
              <a:buChar char="•"/>
            </a:pPr>
            <a:r>
              <a:rPr lang="en-US" sz="2800" b="1">
                <a:solidFill>
                  <a:srgbClr val="000000"/>
                </a:solidFill>
                <a:latin typeface="Quicksand Bold"/>
                <a:ea typeface="Quicksand Bold"/>
                <a:cs typeface="Quicksand Bold"/>
                <a:sym typeface="Quicksand Bold"/>
              </a:rPr>
              <a:t>Struct</a:t>
            </a:r>
          </a:p>
          <a:p>
            <a:pPr algn="l">
              <a:lnSpc>
                <a:spcPts val="5040"/>
              </a:lnSpc>
            </a:pPr>
            <a:r>
              <a:rPr lang="en-US" sz="2800" b="1">
                <a:solidFill>
                  <a:srgbClr val="000000"/>
                </a:solidFill>
                <a:latin typeface="Quicksand Bold"/>
                <a:ea typeface="Quicksand Bold"/>
                <a:cs typeface="Quicksand Bold"/>
                <a:sym typeface="Quicksand Bold"/>
              </a:rPr>
              <a:t>Digunakan untuk mengelompokkan data pasien dan data dokter.</a:t>
            </a:r>
          </a:p>
          <a:p>
            <a:pPr marL="604604" lvl="1" indent="-302302" algn="l">
              <a:lnSpc>
                <a:spcPts val="5040"/>
              </a:lnSpc>
              <a:buFont typeface="Arial"/>
              <a:buChar char="•"/>
            </a:pPr>
            <a:r>
              <a:rPr lang="en-US" sz="2800" b="1">
                <a:solidFill>
                  <a:srgbClr val="000000"/>
                </a:solidFill>
                <a:latin typeface="Quicksand Bold"/>
                <a:ea typeface="Quicksand Bold"/>
                <a:cs typeface="Quicksand Bold"/>
                <a:sym typeface="Quicksand Bold"/>
              </a:rPr>
              <a:t>Array</a:t>
            </a:r>
          </a:p>
          <a:p>
            <a:pPr algn="l">
              <a:lnSpc>
                <a:spcPts val="5040"/>
              </a:lnSpc>
            </a:pPr>
            <a:r>
              <a:rPr lang="en-US" sz="2800" b="1">
                <a:solidFill>
                  <a:srgbClr val="000000"/>
                </a:solidFill>
                <a:latin typeface="Quicksand Bold"/>
                <a:ea typeface="Quicksand Bold"/>
                <a:cs typeface="Quicksand Bold"/>
                <a:sym typeface="Quicksand Bold"/>
              </a:rPr>
              <a:t>Digunakan untuk menyimpan kumpulan data pasien, dokter, antrean pelayanan, dan riwayat pemeriksaan.</a:t>
            </a:r>
          </a:p>
          <a:p>
            <a:pPr marL="604604" lvl="1" indent="-302302" algn="l">
              <a:lnSpc>
                <a:spcPts val="5040"/>
              </a:lnSpc>
              <a:buFont typeface="Arial"/>
              <a:buChar char="•"/>
            </a:pPr>
            <a:r>
              <a:rPr lang="en-US" sz="2800" b="1">
                <a:solidFill>
                  <a:srgbClr val="000000"/>
                </a:solidFill>
                <a:latin typeface="Quicksand Bold"/>
                <a:ea typeface="Quicksand Bold"/>
                <a:cs typeface="Quicksand Bold"/>
                <a:sym typeface="Quicksand Bold"/>
              </a:rPr>
              <a:t>Sequential Search</a:t>
            </a:r>
          </a:p>
          <a:p>
            <a:pPr algn="l">
              <a:lnSpc>
                <a:spcPts val="5040"/>
              </a:lnSpc>
            </a:pPr>
            <a:r>
              <a:rPr lang="en-US" sz="2800" b="1">
                <a:solidFill>
                  <a:srgbClr val="000000"/>
                </a:solidFill>
                <a:latin typeface="Quicksand Bold"/>
                <a:ea typeface="Quicksand Bold"/>
                <a:cs typeface="Quicksand Bold"/>
                <a:sym typeface="Quicksand Bold"/>
              </a:rPr>
              <a:t>Digunakan untuk mencari data pasien berdasarkan ID pasien menggunakan metode Sequential Search.</a:t>
            </a:r>
          </a:p>
          <a:p>
            <a:pPr algn="l">
              <a:lnSpc>
                <a:spcPts val="5040"/>
              </a:lnSpc>
            </a:pPr>
            <a:endParaRPr lang="en-US" sz="2800" b="1">
              <a:solidFill>
                <a:srgbClr val="000000"/>
              </a:solidFill>
              <a:latin typeface="Quicksand Bold"/>
              <a:ea typeface="Quicksand Bold"/>
              <a:cs typeface="Quicksand Bold"/>
              <a:sym typeface="Quicksand Bold"/>
            </a:endParaRPr>
          </a:p>
          <a:p>
            <a:pPr algn="l">
              <a:lnSpc>
                <a:spcPts val="5040"/>
              </a:lnSpc>
            </a:pPr>
            <a:endParaRPr lang="en-US" sz="2800" b="1">
              <a:solidFill>
                <a:srgbClr val="000000"/>
              </a:solidFill>
              <a:latin typeface="Quicksand Bold"/>
              <a:ea typeface="Quicksand Bold"/>
              <a:cs typeface="Quicksand Bold"/>
              <a:sym typeface="Quicksand Bold"/>
            </a:endParaRPr>
          </a:p>
          <a:p>
            <a:pPr algn="ctr">
              <a:lnSpc>
                <a:spcPts val="5040"/>
              </a:lnSpc>
            </a:pPr>
            <a:endParaRPr lang="en-US" sz="2800" b="1">
              <a:solidFill>
                <a:srgbClr val="000000"/>
              </a:solidFill>
              <a:latin typeface="Quicksand Bold"/>
              <a:ea typeface="Quicksand Bold"/>
              <a:cs typeface="Quicksand Bold"/>
              <a:sym typeface="Quicksand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0" y="1303284"/>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514611" y="1265184"/>
            <a:ext cx="13773389" cy="8229600"/>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6937435" y="2015588"/>
            <a:ext cx="11305549" cy="6107299"/>
          </a:xfrm>
          <a:custGeom>
            <a:avLst/>
            <a:gdLst/>
            <a:ahLst/>
            <a:cxnLst/>
            <a:rect l="l" t="t" r="r" b="b"/>
            <a:pathLst>
              <a:path w="11305549" h="6107299">
                <a:moveTo>
                  <a:pt x="0" y="0"/>
                </a:moveTo>
                <a:lnTo>
                  <a:pt x="11305549" y="0"/>
                </a:lnTo>
                <a:lnTo>
                  <a:pt x="11305549" y="6107299"/>
                </a:lnTo>
                <a:lnTo>
                  <a:pt x="0" y="6107299"/>
                </a:lnTo>
                <a:lnTo>
                  <a:pt x="0" y="0"/>
                </a:lnTo>
                <a:close/>
              </a:path>
            </a:pathLst>
          </a:custGeom>
          <a:blipFill>
            <a:blip>
              <a:extLst>
                <a:ext uri="{96DAC541-7B7A-43D3-8B79-37D633B846F1}">
                  <asvg:svgBlip xmlns:asvg="http://schemas.microsoft.com/office/drawing/2016/SVG/main" r:embed="rId3"/>
                </a:ext>
              </a:extLst>
            </a:blip>
            <a:stretch>
              <a:fillRect l="-19959" b="-63216"/>
            </a:stretch>
          </a:blipFill>
          <a:ln cap="sq">
            <a:noFill/>
            <a:prstDash val="solid"/>
            <a:miter/>
          </a:ln>
        </p:spPr>
      </p:sp>
      <p:sp>
        <p:nvSpPr>
          <p:cNvPr id="5" name="Freeform 5"/>
          <p:cNvSpPr/>
          <p:nvPr/>
        </p:nvSpPr>
        <p:spPr>
          <a:xfrm>
            <a:off x="0" y="2015588"/>
            <a:ext cx="11305549" cy="6107299"/>
          </a:xfrm>
          <a:custGeom>
            <a:avLst/>
            <a:gdLst/>
            <a:ahLst/>
            <a:cxnLst/>
            <a:rect l="l" t="t" r="r" b="b"/>
            <a:pathLst>
              <a:path w="11305549" h="6107299">
                <a:moveTo>
                  <a:pt x="0" y="0"/>
                </a:moveTo>
                <a:lnTo>
                  <a:pt x="11305549" y="0"/>
                </a:lnTo>
                <a:lnTo>
                  <a:pt x="11305549" y="6107299"/>
                </a:lnTo>
                <a:lnTo>
                  <a:pt x="0" y="6107299"/>
                </a:lnTo>
                <a:lnTo>
                  <a:pt x="0" y="0"/>
                </a:lnTo>
                <a:close/>
              </a:path>
            </a:pathLst>
          </a:custGeom>
          <a:blipFill>
            <a:blip>
              <a:extLst>
                <a:ext uri="{96DAC541-7B7A-43D3-8B79-37D633B846F1}">
                  <asvg:svgBlip xmlns:asvg="http://schemas.microsoft.com/office/drawing/2016/SVG/main" r:embed="rId3"/>
                </a:ext>
              </a:extLst>
            </a:blip>
            <a:stretch>
              <a:fillRect r="-19959" b="-63216"/>
            </a:stretch>
          </a:blipFill>
          <a:ln cap="sq">
            <a:noFill/>
            <a:prstDash val="solid"/>
            <a:miter/>
          </a:ln>
        </p:spPr>
      </p:sp>
      <p:sp>
        <p:nvSpPr>
          <p:cNvPr id="6" name="Freeform 6"/>
          <p:cNvSpPr/>
          <p:nvPr/>
        </p:nvSpPr>
        <p:spPr>
          <a:xfrm>
            <a:off x="0" y="6887905"/>
            <a:ext cx="11305549" cy="3036955"/>
          </a:xfrm>
          <a:custGeom>
            <a:avLst/>
            <a:gdLst/>
            <a:ahLst/>
            <a:cxnLst/>
            <a:rect l="l" t="t" r="r" b="b"/>
            <a:pathLst>
              <a:path w="11305549" h="3036955">
                <a:moveTo>
                  <a:pt x="0" y="0"/>
                </a:moveTo>
                <a:lnTo>
                  <a:pt x="11305549" y="0"/>
                </a:lnTo>
                <a:lnTo>
                  <a:pt x="11305549" y="3036955"/>
                </a:lnTo>
                <a:lnTo>
                  <a:pt x="0" y="3036955"/>
                </a:lnTo>
                <a:lnTo>
                  <a:pt x="0" y="0"/>
                </a:lnTo>
                <a:close/>
              </a:path>
            </a:pathLst>
          </a:custGeom>
          <a:blipFill>
            <a:blip>
              <a:extLst>
                <a:ext uri="{96DAC541-7B7A-43D3-8B79-37D633B846F1}">
                  <asvg:svgBlip xmlns:asvg="http://schemas.microsoft.com/office/drawing/2016/SVG/main" r:embed="rId3"/>
                </a:ext>
              </a:extLst>
            </a:blip>
            <a:stretch>
              <a:fillRect t="-228227" r="-19959"/>
            </a:stretch>
          </a:blipFill>
          <a:ln cap="sq">
            <a:noFill/>
            <a:prstDash val="solid"/>
            <a:miter/>
          </a:ln>
        </p:spPr>
      </p:sp>
      <p:sp>
        <p:nvSpPr>
          <p:cNvPr id="7" name="Freeform 7"/>
          <p:cNvSpPr/>
          <p:nvPr/>
        </p:nvSpPr>
        <p:spPr>
          <a:xfrm>
            <a:off x="7102541" y="6932257"/>
            <a:ext cx="11140442" cy="2992603"/>
          </a:xfrm>
          <a:custGeom>
            <a:avLst/>
            <a:gdLst/>
            <a:ahLst/>
            <a:cxnLst/>
            <a:rect l="l" t="t" r="r" b="b"/>
            <a:pathLst>
              <a:path w="11140442" h="2992603">
                <a:moveTo>
                  <a:pt x="0" y="0"/>
                </a:moveTo>
                <a:lnTo>
                  <a:pt x="11140443" y="0"/>
                </a:lnTo>
                <a:lnTo>
                  <a:pt x="11140443" y="2992603"/>
                </a:lnTo>
                <a:lnTo>
                  <a:pt x="0" y="2992603"/>
                </a:lnTo>
                <a:lnTo>
                  <a:pt x="0" y="0"/>
                </a:lnTo>
                <a:close/>
              </a:path>
            </a:pathLst>
          </a:custGeom>
          <a:blipFill>
            <a:blip>
              <a:extLst>
                <a:ext uri="{96DAC541-7B7A-43D3-8B79-37D633B846F1}">
                  <asvg:svgBlip xmlns:asvg="http://schemas.microsoft.com/office/drawing/2016/SVG/main" r:embed="rId3"/>
                </a:ext>
              </a:extLst>
            </a:blip>
            <a:stretch>
              <a:fillRect l="-19959" t="-228227"/>
            </a:stretch>
          </a:blipFill>
          <a:ln cap="sq">
            <a:noFill/>
            <a:prstDash val="solid"/>
            <a:miter/>
          </a:ln>
        </p:spPr>
      </p:sp>
      <p:sp>
        <p:nvSpPr>
          <p:cNvPr id="8" name="TextBox 8"/>
          <p:cNvSpPr txBox="1"/>
          <p:nvPr/>
        </p:nvSpPr>
        <p:spPr>
          <a:xfrm>
            <a:off x="779937" y="4349481"/>
            <a:ext cx="17463046" cy="6124546"/>
          </a:xfrm>
          <a:prstGeom prst="rect">
            <a:avLst/>
          </a:prstGeom>
        </p:spPr>
        <p:txBody>
          <a:bodyPr lIns="0" tIns="0" rIns="0" bIns="0" rtlCol="0" anchor="t">
            <a:spAutoFit/>
          </a:bodyPr>
          <a:lstStyle/>
          <a:p>
            <a:pPr marL="647783" lvl="1" indent="-323891" algn="l">
              <a:lnSpc>
                <a:spcPts val="5400"/>
              </a:lnSpc>
              <a:buFont typeface="Arial"/>
              <a:buChar char="•"/>
            </a:pPr>
            <a:r>
              <a:rPr lang="en-US" sz="3000" b="1">
                <a:solidFill>
                  <a:srgbClr val="000000"/>
                </a:solidFill>
                <a:latin typeface="Quicksand Bold"/>
                <a:ea typeface="Quicksand Bold"/>
                <a:cs typeface="Quicksand Bold"/>
                <a:sym typeface="Quicksand Bold"/>
              </a:rPr>
              <a:t>Bubble Sort</a:t>
            </a:r>
          </a:p>
          <a:p>
            <a:pPr algn="l">
              <a:lnSpc>
                <a:spcPts val="5400"/>
              </a:lnSpc>
            </a:pPr>
            <a:r>
              <a:rPr lang="en-US" sz="3000" b="1">
                <a:solidFill>
                  <a:srgbClr val="000000"/>
                </a:solidFill>
                <a:latin typeface="Quicksand Bold"/>
                <a:ea typeface="Quicksand Bold"/>
                <a:cs typeface="Quicksand Bold"/>
                <a:sym typeface="Quicksand Bold"/>
              </a:rPr>
              <a:t>Digunakan untuk mengurutkan jadwal dokter berdasarkan nama menggunakan metode Bubble Sort.</a:t>
            </a:r>
          </a:p>
          <a:p>
            <a:pPr marL="647783" lvl="1" indent="-323891" algn="l">
              <a:lnSpc>
                <a:spcPts val="5400"/>
              </a:lnSpc>
              <a:buFont typeface="Arial"/>
              <a:buChar char="•"/>
            </a:pPr>
            <a:r>
              <a:rPr lang="en-US" sz="3000" b="1">
                <a:solidFill>
                  <a:srgbClr val="000000"/>
                </a:solidFill>
                <a:latin typeface="Quicksand Bold"/>
                <a:ea typeface="Quicksand Bold"/>
                <a:cs typeface="Quicksand Bold"/>
                <a:sym typeface="Quicksand Bold"/>
              </a:rPr>
              <a:t>Queue</a:t>
            </a:r>
          </a:p>
          <a:p>
            <a:pPr algn="l">
              <a:lnSpc>
                <a:spcPts val="5400"/>
              </a:lnSpc>
            </a:pPr>
            <a:r>
              <a:rPr lang="en-US" sz="3000" b="1">
                <a:solidFill>
                  <a:srgbClr val="000000"/>
                </a:solidFill>
                <a:latin typeface="Quicksand Bold"/>
                <a:ea typeface="Quicksand Bold"/>
                <a:cs typeface="Quicksand Bold"/>
                <a:sym typeface="Quicksand Bold"/>
              </a:rPr>
              <a:t>Digunakan pada pengelolaan antrean pelayanan pasien berdasarkan urutan kedatangan (FIFO).</a:t>
            </a:r>
          </a:p>
          <a:p>
            <a:pPr algn="l">
              <a:lnSpc>
                <a:spcPts val="5400"/>
              </a:lnSpc>
            </a:pPr>
            <a:endParaRPr lang="en-US" sz="3000" b="1">
              <a:solidFill>
                <a:srgbClr val="000000"/>
              </a:solidFill>
              <a:latin typeface="Quicksand Bold"/>
              <a:ea typeface="Quicksand Bold"/>
              <a:cs typeface="Quicksand Bold"/>
              <a:sym typeface="Quicksand Bold"/>
            </a:endParaRPr>
          </a:p>
          <a:p>
            <a:pPr algn="l">
              <a:lnSpc>
                <a:spcPts val="5400"/>
              </a:lnSpc>
            </a:pPr>
            <a:endParaRPr lang="en-US" sz="3000" b="1">
              <a:solidFill>
                <a:srgbClr val="000000"/>
              </a:solidFill>
              <a:latin typeface="Quicksand Bold"/>
              <a:ea typeface="Quicksand Bold"/>
              <a:cs typeface="Quicksand Bold"/>
              <a:sym typeface="Quicksand Bold"/>
            </a:endParaRPr>
          </a:p>
          <a:p>
            <a:pPr algn="ctr">
              <a:lnSpc>
                <a:spcPts val="5400"/>
              </a:lnSpc>
            </a:pPr>
            <a:endParaRPr lang="en-US" sz="3000" b="1">
              <a:solidFill>
                <a:srgbClr val="000000"/>
              </a:solidFill>
              <a:latin typeface="Quicksand Bold"/>
              <a:ea typeface="Quicksand Bold"/>
              <a:cs typeface="Quicksand Bold"/>
              <a:sym typeface="Quicksand Bold"/>
            </a:endParaRPr>
          </a:p>
        </p:txBody>
      </p:sp>
      <p:sp>
        <p:nvSpPr>
          <p:cNvPr id="9" name="TextBox 9"/>
          <p:cNvSpPr txBox="1"/>
          <p:nvPr/>
        </p:nvSpPr>
        <p:spPr>
          <a:xfrm>
            <a:off x="1890434" y="-171450"/>
            <a:ext cx="14507132" cy="2319425"/>
          </a:xfrm>
          <a:prstGeom prst="rect">
            <a:avLst/>
          </a:prstGeom>
        </p:spPr>
        <p:txBody>
          <a:bodyPr lIns="0" tIns="0" rIns="0" bIns="0" rtlCol="0" anchor="t">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STRUKTUR DATA YANG DI GUNAKAN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119872" y="2552700"/>
            <a:ext cx="13773389" cy="65532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D" dirty="0"/>
          </a:p>
        </p:txBody>
      </p:sp>
      <p:sp>
        <p:nvSpPr>
          <p:cNvPr id="3" name="Freeform 3"/>
          <p:cNvSpPr/>
          <p:nvPr/>
        </p:nvSpPr>
        <p:spPr>
          <a:xfrm>
            <a:off x="4303557" y="1429863"/>
            <a:ext cx="13773389" cy="8229600"/>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7142221" y="1851250"/>
            <a:ext cx="11188055" cy="6043828"/>
          </a:xfrm>
          <a:custGeom>
            <a:avLst/>
            <a:gdLst/>
            <a:ahLst/>
            <a:cxnLst/>
            <a:rect l="l" t="t" r="r" b="b"/>
            <a:pathLst>
              <a:path w="11188055" h="6043828">
                <a:moveTo>
                  <a:pt x="0" y="0"/>
                </a:moveTo>
                <a:lnTo>
                  <a:pt x="11188055" y="0"/>
                </a:lnTo>
                <a:lnTo>
                  <a:pt x="11188055" y="6043828"/>
                </a:lnTo>
                <a:lnTo>
                  <a:pt x="0" y="6043828"/>
                </a:lnTo>
                <a:lnTo>
                  <a:pt x="0" y="0"/>
                </a:lnTo>
                <a:close/>
              </a:path>
            </a:pathLst>
          </a:custGeom>
          <a:blipFill>
            <a:blip>
              <a:extLst>
                <a:ext uri="{96DAC541-7B7A-43D3-8B79-37D633B846F1}">
                  <asvg:svgBlip xmlns:asvg="http://schemas.microsoft.com/office/drawing/2016/SVG/main" r:embed="rId4"/>
                </a:ext>
              </a:extLst>
            </a:blip>
            <a:stretch>
              <a:fillRect l="-19959" b="-63216"/>
            </a:stretch>
          </a:blipFill>
          <a:ln cap="sq">
            <a:noFill/>
            <a:prstDash val="solid"/>
            <a:miter/>
          </a:ln>
        </p:spPr>
      </p:sp>
      <p:sp>
        <p:nvSpPr>
          <p:cNvPr id="5" name="Freeform 5"/>
          <p:cNvSpPr/>
          <p:nvPr/>
        </p:nvSpPr>
        <p:spPr>
          <a:xfrm>
            <a:off x="-178805" y="1874110"/>
            <a:ext cx="11188055" cy="6043828"/>
          </a:xfrm>
          <a:custGeom>
            <a:avLst/>
            <a:gdLst/>
            <a:ahLst/>
            <a:cxnLst/>
            <a:rect l="l" t="t" r="r" b="b"/>
            <a:pathLst>
              <a:path w="11188055" h="6043828">
                <a:moveTo>
                  <a:pt x="0" y="0"/>
                </a:moveTo>
                <a:lnTo>
                  <a:pt x="11188055" y="0"/>
                </a:lnTo>
                <a:lnTo>
                  <a:pt x="11188055" y="6043828"/>
                </a:lnTo>
                <a:lnTo>
                  <a:pt x="0" y="6043828"/>
                </a:lnTo>
                <a:lnTo>
                  <a:pt x="0" y="0"/>
                </a:lnTo>
                <a:close/>
              </a:path>
            </a:pathLst>
          </a:custGeom>
          <a:blipFill>
            <a:blip>
              <a:extLst>
                <a:ext uri="{96DAC541-7B7A-43D3-8B79-37D633B846F1}">
                  <asvg:svgBlip xmlns:asvg="http://schemas.microsoft.com/office/drawing/2016/SVG/main" r:embed="rId4"/>
                </a:ext>
              </a:extLst>
            </a:blip>
            <a:stretch>
              <a:fillRect r="-19959" b="-63216"/>
            </a:stretch>
          </a:blipFill>
          <a:ln cap="sq">
            <a:noFill/>
            <a:prstDash val="solid"/>
            <a:miter/>
          </a:ln>
        </p:spPr>
      </p:sp>
      <p:sp>
        <p:nvSpPr>
          <p:cNvPr id="6" name="Freeform 6"/>
          <p:cNvSpPr/>
          <p:nvPr/>
        </p:nvSpPr>
        <p:spPr>
          <a:xfrm>
            <a:off x="-178805" y="6887905"/>
            <a:ext cx="10477941" cy="3192945"/>
          </a:xfrm>
          <a:custGeom>
            <a:avLst/>
            <a:gdLst/>
            <a:ahLst/>
            <a:cxnLst/>
            <a:rect l="l" t="t" r="r" b="b"/>
            <a:pathLst>
              <a:path w="10477941" h="2814639">
                <a:moveTo>
                  <a:pt x="0" y="0"/>
                </a:moveTo>
                <a:lnTo>
                  <a:pt x="10477941" y="0"/>
                </a:lnTo>
                <a:lnTo>
                  <a:pt x="10477941" y="2814638"/>
                </a:lnTo>
                <a:lnTo>
                  <a:pt x="0" y="2814638"/>
                </a:lnTo>
                <a:lnTo>
                  <a:pt x="0" y="0"/>
                </a:lnTo>
                <a:close/>
              </a:path>
            </a:pathLst>
          </a:custGeom>
          <a:blipFill>
            <a:blip>
              <a:extLst>
                <a:ext uri="{96DAC541-7B7A-43D3-8B79-37D633B846F1}">
                  <asvg:svgBlip xmlns:asvg="http://schemas.microsoft.com/office/drawing/2016/SVG/main" r:embed="rId4"/>
                </a:ext>
              </a:extLst>
            </a:blip>
            <a:stretch>
              <a:fillRect t="-228227" r="-19959"/>
            </a:stretch>
          </a:blipFill>
          <a:ln cap="sq">
            <a:noFill/>
            <a:prstDash val="solid"/>
            <a:miter/>
          </a:ln>
        </p:spPr>
        <p:txBody>
          <a:bodyPr/>
          <a:lstStyle/>
          <a:p>
            <a:endParaRPr lang="en-ID" dirty="0"/>
          </a:p>
        </p:txBody>
      </p:sp>
      <p:sp>
        <p:nvSpPr>
          <p:cNvPr id="7" name="Freeform 7"/>
          <p:cNvSpPr/>
          <p:nvPr/>
        </p:nvSpPr>
        <p:spPr>
          <a:xfrm>
            <a:off x="7898829" y="6975470"/>
            <a:ext cx="10477941" cy="3088139"/>
          </a:xfrm>
          <a:custGeom>
            <a:avLst/>
            <a:gdLst/>
            <a:ahLst/>
            <a:cxnLst/>
            <a:rect l="l" t="t" r="r" b="b"/>
            <a:pathLst>
              <a:path w="10477941" h="2814639">
                <a:moveTo>
                  <a:pt x="0" y="0"/>
                </a:moveTo>
                <a:lnTo>
                  <a:pt x="10477941" y="0"/>
                </a:lnTo>
                <a:lnTo>
                  <a:pt x="10477941" y="2814638"/>
                </a:lnTo>
                <a:lnTo>
                  <a:pt x="0" y="2814638"/>
                </a:lnTo>
                <a:lnTo>
                  <a:pt x="0" y="0"/>
                </a:lnTo>
                <a:close/>
              </a:path>
            </a:pathLst>
          </a:custGeom>
          <a:blipFill>
            <a:blip>
              <a:extLst>
                <a:ext uri="{96DAC541-7B7A-43D3-8B79-37D633B846F1}">
                  <asvg:svgBlip xmlns:asvg="http://schemas.microsoft.com/office/drawing/2016/SVG/main" r:embed="rId4"/>
                </a:ext>
              </a:extLst>
            </a:blip>
            <a:stretch>
              <a:fillRect l="-19959" t="-228227"/>
            </a:stretch>
          </a:blipFill>
          <a:ln cap="sq">
            <a:noFill/>
            <a:prstDash val="solid"/>
            <a:miter/>
          </a:ln>
        </p:spPr>
      </p:sp>
      <p:sp>
        <p:nvSpPr>
          <p:cNvPr id="8" name="TextBox 8"/>
          <p:cNvSpPr txBox="1"/>
          <p:nvPr/>
        </p:nvSpPr>
        <p:spPr>
          <a:xfrm>
            <a:off x="2260815" y="-318570"/>
            <a:ext cx="14393456" cy="3327519"/>
          </a:xfrm>
          <a:prstGeom prst="rect">
            <a:avLst/>
          </a:prstGeom>
        </p:spPr>
        <p:txBody>
          <a:bodyPr lIns="0" tIns="0" rIns="0" bIns="0" rtlCol="0" anchor="t">
            <a:spAutoFit/>
          </a:bodyPr>
          <a:lstStyle/>
          <a:p>
            <a:pPr algn="ctr">
              <a:lnSpc>
                <a:spcPts val="12319"/>
              </a:lnSpc>
              <a:spcBef>
                <a:spcPct val="0"/>
              </a:spcBef>
            </a:pPr>
            <a:r>
              <a:rPr lang="en-US" sz="8799" dirty="0">
                <a:solidFill>
                  <a:srgbClr val="5170FF"/>
                </a:solidFill>
                <a:latin typeface="เอฟซี โอนิกิริ"/>
                <a:ea typeface="เอฟซี โอนิกิริ"/>
                <a:cs typeface="เอฟซี โอนิกิริ"/>
                <a:sym typeface="เอฟซี โอนิกิริ"/>
              </a:rPr>
              <a:t>ALASAN PEMILIHAN STRUKTUR DATA</a:t>
            </a:r>
          </a:p>
        </p:txBody>
      </p:sp>
      <p:sp>
        <p:nvSpPr>
          <p:cNvPr id="9" name="TextBox 9"/>
          <p:cNvSpPr txBox="1"/>
          <p:nvPr/>
        </p:nvSpPr>
        <p:spPr>
          <a:xfrm>
            <a:off x="0" y="4305300"/>
            <a:ext cx="18076946" cy="4766690"/>
          </a:xfrm>
          <a:prstGeom prst="rect">
            <a:avLst/>
          </a:prstGeom>
        </p:spPr>
        <p:txBody>
          <a:bodyPr wrap="square" lIns="0" tIns="0" rIns="0" bIns="0" rtlCol="0" anchor="t">
            <a:spAutoFit/>
          </a:bodyPr>
          <a:lstStyle/>
          <a:p>
            <a:pPr marL="647700" lvl="1" indent="-323850" algn="l">
              <a:lnSpc>
                <a:spcPts val="5400"/>
              </a:lnSpc>
              <a:buFont typeface="Arial"/>
              <a:buChar char="•"/>
            </a:pPr>
            <a:r>
              <a:rPr lang="en-US" sz="3000" b="1" dirty="0">
                <a:solidFill>
                  <a:srgbClr val="000000"/>
                </a:solidFill>
                <a:latin typeface="Quicksand Bold"/>
                <a:ea typeface="Quicksand Bold"/>
                <a:cs typeface="Quicksand Bold"/>
                <a:sym typeface="Quicksand Bold"/>
              </a:rPr>
              <a:t>Struct </a:t>
            </a:r>
            <a:r>
              <a:rPr lang="en-US" sz="3000" b="1" dirty="0" err="1">
                <a:solidFill>
                  <a:srgbClr val="000000"/>
                </a:solidFill>
                <a:latin typeface="Quicksand Bold"/>
                <a:ea typeface="Quicksand Bold"/>
                <a:cs typeface="Quicksand Bold"/>
                <a:sym typeface="Quicksand Bold"/>
              </a:rPr>
              <a:t>dipilih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karena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mampu</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mengelompokan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atribut</a:t>
            </a:r>
            <a:r>
              <a:rPr lang="en-US" sz="3000" b="1" dirty="0">
                <a:solidFill>
                  <a:srgbClr val="000000"/>
                </a:solidFill>
                <a:latin typeface="Quicksand Bold"/>
                <a:ea typeface="Quicksand Bold"/>
                <a:cs typeface="Quicksand Bold"/>
                <a:sym typeface="Quicksand Bold"/>
              </a:rPr>
              <a:t> yang </a:t>
            </a:r>
            <a:r>
              <a:rPr lang="en-US" sz="3000" b="1" dirty="0" err="1">
                <a:solidFill>
                  <a:srgbClr val="000000"/>
                </a:solidFill>
                <a:latin typeface="Quicksand Bold"/>
                <a:ea typeface="Quicksand Bold"/>
                <a:cs typeface="Quicksand Bold"/>
                <a:sym typeface="Quicksand Bold"/>
              </a:rPr>
              <a:t>saling</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berkaitan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seperti</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id,nama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keluhan</a:t>
            </a:r>
            <a:r>
              <a:rPr lang="en-US" sz="3000" b="1" dirty="0">
                <a:solidFill>
                  <a:srgbClr val="000000"/>
                </a:solidFill>
                <a:latin typeface="Quicksand Bold"/>
                <a:ea typeface="Quicksand Bold"/>
                <a:cs typeface="Quicksand Bold"/>
                <a:sym typeface="Quicksand Bold"/>
              </a:rPr>
              <a:t>)</a:t>
            </a:r>
            <a:r>
              <a:rPr lang="en-US" sz="3000" b="1" dirty="0" err="1">
                <a:solidFill>
                  <a:srgbClr val="000000"/>
                </a:solidFill>
                <a:latin typeface="Quicksand Bold"/>
                <a:ea typeface="Quicksand Bold"/>
                <a:cs typeface="Quicksand Bold"/>
                <a:sym typeface="Quicksand Bold"/>
              </a:rPr>
              <a:t>menjadi</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satu</a:t>
            </a:r>
            <a:r>
              <a:rPr lang="en-US" sz="3000" b="1" dirty="0">
                <a:solidFill>
                  <a:srgbClr val="000000"/>
                </a:solidFill>
                <a:latin typeface="Quicksand Bold"/>
                <a:ea typeface="Quicksand Bold"/>
                <a:cs typeface="Quicksand Bold"/>
                <a:sym typeface="Quicksand Bold"/>
              </a:rPr>
              <a:t> data.</a:t>
            </a:r>
          </a:p>
          <a:p>
            <a:pPr marL="647700" lvl="1" indent="-323850" algn="l">
              <a:lnSpc>
                <a:spcPts val="5400"/>
              </a:lnSpc>
              <a:buFont typeface="Arial"/>
              <a:buChar char="•"/>
            </a:pPr>
            <a:r>
              <a:rPr lang="en-US" sz="3000" b="1" dirty="0">
                <a:solidFill>
                  <a:srgbClr val="000000"/>
                </a:solidFill>
                <a:latin typeface="Quicksand Bold"/>
                <a:ea typeface="Quicksand Bold"/>
                <a:cs typeface="Quicksand Bold"/>
                <a:sym typeface="Quicksand Bold"/>
              </a:rPr>
              <a:t>Array </a:t>
            </a:r>
            <a:r>
              <a:rPr lang="en-US" sz="3000" b="1" dirty="0" err="1">
                <a:solidFill>
                  <a:srgbClr val="000000"/>
                </a:solidFill>
                <a:latin typeface="Quicksand Bold"/>
                <a:ea typeface="Quicksand Bold"/>
                <a:cs typeface="Quicksand Bold"/>
                <a:sym typeface="Quicksand Bold"/>
              </a:rPr>
              <a:t>dipilih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sebagai</a:t>
            </a:r>
            <a:r>
              <a:rPr lang="en-US" sz="3000" b="1" dirty="0">
                <a:solidFill>
                  <a:srgbClr val="000000"/>
                </a:solidFill>
                <a:latin typeface="Quicksand Bold"/>
                <a:ea typeface="Quicksand Bold"/>
                <a:cs typeface="Quicksand Bold"/>
                <a:sym typeface="Quicksand Bold"/>
              </a:rPr>
              <a:t> media </a:t>
            </a:r>
            <a:r>
              <a:rPr lang="en-US" sz="3000" b="1" dirty="0" err="1">
                <a:solidFill>
                  <a:srgbClr val="000000"/>
                </a:solidFill>
                <a:latin typeface="Quicksand Bold"/>
                <a:ea typeface="Quicksand Bold"/>
                <a:cs typeface="Quicksand Bold"/>
                <a:sym typeface="Quicksand Bold"/>
              </a:rPr>
              <a:t>penyimpanan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karena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dapat</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menyimpan</a:t>
            </a:r>
            <a:r>
              <a:rPr lang="en-US" sz="3000" b="1" dirty="0">
                <a:solidFill>
                  <a:srgbClr val="000000"/>
                </a:solidFill>
                <a:latin typeface="Quicksand Bold"/>
                <a:ea typeface="Quicksand Bold"/>
                <a:cs typeface="Quicksand Bold"/>
                <a:sym typeface="Quicksand Bold"/>
              </a:rPr>
              <a:t> data </a:t>
            </a:r>
            <a:r>
              <a:rPr lang="en-US" sz="3000" b="1" dirty="0" err="1">
                <a:solidFill>
                  <a:srgbClr val="000000"/>
                </a:solidFill>
                <a:latin typeface="Quicksand Bold"/>
                <a:ea typeface="Quicksand Bold"/>
                <a:cs typeface="Quicksand Bold"/>
                <a:sym typeface="Quicksand Bold"/>
              </a:rPr>
              <a:t>dalam</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satu</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varibel</a:t>
            </a:r>
            <a:r>
              <a:rPr lang="en-US" sz="3000" b="1" dirty="0">
                <a:solidFill>
                  <a:srgbClr val="000000"/>
                </a:solidFill>
                <a:latin typeface="Quicksand Bold"/>
                <a:ea typeface="Quicksand Bold"/>
                <a:cs typeface="Quicksand Bold"/>
                <a:sym typeface="Quicksand Bold"/>
              </a:rPr>
              <a:t>.</a:t>
            </a:r>
          </a:p>
          <a:p>
            <a:pPr marL="647700" lvl="1" indent="-323850" algn="l">
              <a:lnSpc>
                <a:spcPts val="5400"/>
              </a:lnSpc>
              <a:buFont typeface="Arial"/>
              <a:buChar char="•"/>
            </a:pPr>
            <a:r>
              <a:rPr lang="en-US" sz="3000" b="1" dirty="0">
                <a:solidFill>
                  <a:srgbClr val="000000"/>
                </a:solidFill>
                <a:latin typeface="Quicksand Bold"/>
                <a:ea typeface="Quicksand Bold"/>
                <a:cs typeface="Quicksand Bold"/>
                <a:sym typeface="Quicksand Bold"/>
              </a:rPr>
              <a:t>Sequential Search </a:t>
            </a:r>
            <a:r>
              <a:rPr lang="en-US" sz="3000" b="1" dirty="0" err="1">
                <a:solidFill>
                  <a:srgbClr val="000000"/>
                </a:solidFill>
                <a:latin typeface="Quicksand Bold"/>
                <a:ea typeface="Quicksand Bold"/>
                <a:cs typeface="Quicksand Bold"/>
                <a:sym typeface="Quicksand Bold"/>
              </a:rPr>
              <a:t>dipilih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karena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mudah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diimplementasikan</a:t>
            </a:r>
            <a:r>
              <a:rPr lang="en-US" sz="3000" b="1" dirty="0">
                <a:solidFill>
                  <a:srgbClr val="000000"/>
                </a:solidFill>
                <a:latin typeface="Quicksand Bold"/>
                <a:ea typeface="Quicksand Bold"/>
                <a:cs typeface="Quicksand Bold"/>
                <a:sym typeface="Quicksand Bold"/>
              </a:rPr>
              <a:t> dan </a:t>
            </a:r>
            <a:r>
              <a:rPr lang="en-US" sz="3000" b="1" dirty="0" err="1">
                <a:solidFill>
                  <a:srgbClr val="000000"/>
                </a:solidFill>
                <a:latin typeface="Quicksand Bold"/>
                <a:ea typeface="Quicksand Bold"/>
                <a:cs typeface="Quicksand Bold"/>
                <a:sym typeface="Quicksand Bold"/>
              </a:rPr>
              <a:t>cukup</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efektif</a:t>
            </a:r>
            <a:r>
              <a:rPr lang="en-US" sz="3000" b="1" dirty="0">
                <a:solidFill>
                  <a:srgbClr val="000000"/>
                </a:solidFill>
                <a:latin typeface="Quicksand Bold"/>
                <a:ea typeface="Quicksand Bold"/>
                <a:cs typeface="Quicksand Bold"/>
                <a:sym typeface="Quicksand Bold"/>
              </a:rPr>
              <a:t>.</a:t>
            </a:r>
          </a:p>
          <a:p>
            <a:pPr marL="647700" lvl="1" indent="-323850" algn="l">
              <a:lnSpc>
                <a:spcPts val="5400"/>
              </a:lnSpc>
              <a:buFont typeface="Arial"/>
              <a:buChar char="•"/>
            </a:pPr>
            <a:r>
              <a:rPr lang="en-US" sz="3000" b="1" dirty="0">
                <a:solidFill>
                  <a:srgbClr val="000000"/>
                </a:solidFill>
                <a:latin typeface="Quicksand Bold"/>
                <a:ea typeface="Quicksand Bold"/>
                <a:cs typeface="Quicksand Bold"/>
                <a:sym typeface="Quicksand Bold"/>
              </a:rPr>
              <a:t>Bubble Sort </a:t>
            </a:r>
            <a:r>
              <a:rPr lang="en-US" sz="3000" b="1" dirty="0" err="1">
                <a:solidFill>
                  <a:srgbClr val="000000"/>
                </a:solidFill>
                <a:latin typeface="Quicksand Bold"/>
                <a:ea typeface="Quicksand Bold"/>
                <a:cs typeface="Quicksand Bold"/>
                <a:sym typeface="Quicksand Bold"/>
              </a:rPr>
              <a:t>dipilih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karena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digunakan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untuk</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mengurutkan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jadwal</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dokter</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secara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alfabet</a:t>
            </a:r>
            <a:r>
              <a:rPr lang="en-US" sz="3000" b="1" dirty="0">
                <a:solidFill>
                  <a:srgbClr val="000000"/>
                </a:solidFill>
                <a:latin typeface="Quicksand Bold"/>
                <a:ea typeface="Quicksand Bold"/>
                <a:cs typeface="Quicksand Bold"/>
                <a:sym typeface="Quicksand Bold"/>
              </a:rPr>
              <a:t>.</a:t>
            </a:r>
          </a:p>
          <a:p>
            <a:pPr marL="647700" lvl="1" indent="-323850" algn="l">
              <a:lnSpc>
                <a:spcPts val="5400"/>
              </a:lnSpc>
              <a:buFont typeface="Arial"/>
              <a:buChar char="•"/>
            </a:pPr>
            <a:r>
              <a:rPr lang="en-US" sz="3000" b="1" dirty="0">
                <a:solidFill>
                  <a:srgbClr val="000000"/>
                </a:solidFill>
                <a:latin typeface="Quicksand Bold"/>
                <a:ea typeface="Quicksand Bold"/>
                <a:cs typeface="Quicksand Bold"/>
                <a:sym typeface="Quicksand Bold"/>
              </a:rPr>
              <a:t>Queue </a:t>
            </a:r>
            <a:r>
              <a:rPr lang="en-US" sz="3000" b="1" dirty="0" err="1">
                <a:solidFill>
                  <a:srgbClr val="000000"/>
                </a:solidFill>
                <a:latin typeface="Quicksand Bold"/>
                <a:ea typeface="Quicksand Bold"/>
                <a:cs typeface="Quicksand Bold"/>
                <a:sym typeface="Quicksand Bold"/>
              </a:rPr>
              <a:t>dipilih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karena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prinsip</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nya</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sesuai</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dengan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kondisi</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rumah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sakit</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dimana</a:t>
            </a:r>
            <a:r>
              <a:rPr lang="en-US" sz="3000" b="1" dirty="0">
                <a:solidFill>
                  <a:srgbClr val="000000"/>
                </a:solidFill>
                <a:latin typeface="Quicksand Bold"/>
                <a:ea typeface="Quicksand Bold"/>
                <a:cs typeface="Quicksand Bold"/>
                <a:sym typeface="Quicksand Bold"/>
              </a:rPr>
              <a:t> yang </a:t>
            </a:r>
            <a:r>
              <a:rPr lang="en-US" sz="3000" b="1" dirty="0" err="1">
                <a:solidFill>
                  <a:srgbClr val="000000"/>
                </a:solidFill>
                <a:latin typeface="Quicksand Bold"/>
                <a:ea typeface="Quicksand Bold"/>
                <a:cs typeface="Quicksand Bold"/>
                <a:sym typeface="Quicksand Bold"/>
              </a:rPr>
              <a:t>datang</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lebih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dahulu</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harus</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mendapatkan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layanan</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terlebih</a:t>
            </a:r>
            <a:r>
              <a:rPr lang="en-US" sz="3000" b="1" dirty="0">
                <a:solidFill>
                  <a:srgbClr val="000000"/>
                </a:solidFill>
                <a:latin typeface="Quicksand Bold"/>
                <a:ea typeface="Quicksand Bold"/>
                <a:cs typeface="Quicksand Bold"/>
                <a:sym typeface="Quicksand Bold"/>
              </a:rPr>
              <a:t> </a:t>
            </a:r>
            <a:r>
              <a:rPr lang="en-US" sz="3000" b="1" dirty="0" err="1">
                <a:solidFill>
                  <a:srgbClr val="000000"/>
                </a:solidFill>
                <a:latin typeface="Quicksand Bold"/>
                <a:ea typeface="Quicksand Bold"/>
                <a:cs typeface="Quicksand Bold"/>
                <a:sym typeface="Quicksand Bold"/>
              </a:rPr>
              <a:t>dahulu</a:t>
            </a:r>
            <a:r>
              <a:rPr lang="en-US" sz="3000" b="1" dirty="0">
                <a:solidFill>
                  <a:srgbClr val="000000"/>
                </a:solidFill>
                <a:latin typeface="Quicksand Bold"/>
                <a:ea typeface="Quicksand Bold"/>
                <a:cs typeface="Quicksand Bold"/>
                <a:sym typeface="Quicksand Bold"/>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271488" y="1185706"/>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393975" y="1632225"/>
            <a:ext cx="13773389" cy="8229600"/>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7021705" y="1973696"/>
            <a:ext cx="11383097" cy="6149191"/>
          </a:xfrm>
          <a:custGeom>
            <a:avLst/>
            <a:gdLst/>
            <a:ahLst/>
            <a:cxnLst/>
            <a:rect l="l" t="t" r="r" b="b"/>
            <a:pathLst>
              <a:path w="11383097" h="6149191">
                <a:moveTo>
                  <a:pt x="0" y="0"/>
                </a:moveTo>
                <a:lnTo>
                  <a:pt x="11383097" y="0"/>
                </a:lnTo>
                <a:lnTo>
                  <a:pt x="11383097" y="6149191"/>
                </a:lnTo>
                <a:lnTo>
                  <a:pt x="0" y="6149191"/>
                </a:lnTo>
                <a:lnTo>
                  <a:pt x="0" y="0"/>
                </a:lnTo>
                <a:close/>
              </a:path>
            </a:pathLst>
          </a:custGeom>
          <a:blipFill>
            <a:blip>
              <a:extLst>
                <a:ext uri="{96DAC541-7B7A-43D3-8B79-37D633B846F1}">
                  <asvg:svgBlip xmlns:asvg="http://schemas.microsoft.com/office/drawing/2016/SVG/main" r:embed="rId3"/>
                </a:ext>
              </a:extLst>
            </a:blip>
            <a:stretch>
              <a:fillRect l="-19959" b="-63216"/>
            </a:stretch>
          </a:blipFill>
          <a:ln cap="sq">
            <a:noFill/>
            <a:prstDash val="solid"/>
            <a:miter/>
          </a:ln>
        </p:spPr>
      </p:sp>
      <p:sp>
        <p:nvSpPr>
          <p:cNvPr id="5" name="Freeform 5"/>
          <p:cNvSpPr/>
          <p:nvPr/>
        </p:nvSpPr>
        <p:spPr>
          <a:xfrm>
            <a:off x="0" y="1973696"/>
            <a:ext cx="11383097" cy="6149191"/>
          </a:xfrm>
          <a:custGeom>
            <a:avLst/>
            <a:gdLst/>
            <a:ahLst/>
            <a:cxnLst/>
            <a:rect l="l" t="t" r="r" b="b"/>
            <a:pathLst>
              <a:path w="11383097" h="6149191">
                <a:moveTo>
                  <a:pt x="0" y="0"/>
                </a:moveTo>
                <a:lnTo>
                  <a:pt x="11383097" y="0"/>
                </a:lnTo>
                <a:lnTo>
                  <a:pt x="11383097" y="6149191"/>
                </a:lnTo>
                <a:lnTo>
                  <a:pt x="0" y="6149191"/>
                </a:lnTo>
                <a:lnTo>
                  <a:pt x="0" y="0"/>
                </a:lnTo>
                <a:close/>
              </a:path>
            </a:pathLst>
          </a:custGeom>
          <a:blipFill>
            <a:blip>
              <a:extLst>
                <a:ext uri="{96DAC541-7B7A-43D3-8B79-37D633B846F1}">
                  <asvg:svgBlip xmlns:asvg="http://schemas.microsoft.com/office/drawing/2016/SVG/main" r:embed="rId3"/>
                </a:ext>
              </a:extLst>
            </a:blip>
            <a:stretch>
              <a:fillRect r="-19959" b="-63216"/>
            </a:stretch>
          </a:blipFill>
          <a:ln cap="sq">
            <a:noFill/>
            <a:prstDash val="solid"/>
            <a:miter/>
          </a:ln>
        </p:spPr>
      </p:sp>
      <p:sp>
        <p:nvSpPr>
          <p:cNvPr id="6" name="Freeform 6"/>
          <p:cNvSpPr/>
          <p:nvPr/>
        </p:nvSpPr>
        <p:spPr>
          <a:xfrm>
            <a:off x="0" y="6887905"/>
            <a:ext cx="10864937" cy="2918596"/>
          </a:xfrm>
          <a:custGeom>
            <a:avLst/>
            <a:gdLst/>
            <a:ahLst/>
            <a:cxnLst/>
            <a:rect l="l" t="t" r="r" b="b"/>
            <a:pathLst>
              <a:path w="10864937" h="2918596">
                <a:moveTo>
                  <a:pt x="0" y="0"/>
                </a:moveTo>
                <a:lnTo>
                  <a:pt x="10864937" y="0"/>
                </a:lnTo>
                <a:lnTo>
                  <a:pt x="10864937" y="2918595"/>
                </a:lnTo>
                <a:lnTo>
                  <a:pt x="0" y="2918595"/>
                </a:lnTo>
                <a:lnTo>
                  <a:pt x="0" y="0"/>
                </a:lnTo>
                <a:close/>
              </a:path>
            </a:pathLst>
          </a:custGeom>
          <a:blipFill>
            <a:blip>
              <a:extLst>
                <a:ext uri="{96DAC541-7B7A-43D3-8B79-37D633B846F1}">
                  <asvg:svgBlip xmlns:asvg="http://schemas.microsoft.com/office/drawing/2016/SVG/main" r:embed="rId3"/>
                </a:ext>
              </a:extLst>
            </a:blip>
            <a:stretch>
              <a:fillRect t="-228227" r="-19959"/>
            </a:stretch>
          </a:blipFill>
          <a:ln cap="sq">
            <a:noFill/>
            <a:prstDash val="solid"/>
            <a:miter/>
          </a:ln>
        </p:spPr>
      </p:sp>
      <p:sp>
        <p:nvSpPr>
          <p:cNvPr id="7" name="Freeform 7"/>
          <p:cNvSpPr/>
          <p:nvPr/>
        </p:nvSpPr>
        <p:spPr>
          <a:xfrm>
            <a:off x="7539865" y="6887905"/>
            <a:ext cx="10864937" cy="2918596"/>
          </a:xfrm>
          <a:custGeom>
            <a:avLst/>
            <a:gdLst/>
            <a:ahLst/>
            <a:cxnLst/>
            <a:rect l="l" t="t" r="r" b="b"/>
            <a:pathLst>
              <a:path w="10864937" h="2918596">
                <a:moveTo>
                  <a:pt x="0" y="0"/>
                </a:moveTo>
                <a:lnTo>
                  <a:pt x="10864937" y="0"/>
                </a:lnTo>
                <a:lnTo>
                  <a:pt x="10864937" y="2918595"/>
                </a:lnTo>
                <a:lnTo>
                  <a:pt x="0" y="2918595"/>
                </a:lnTo>
                <a:lnTo>
                  <a:pt x="0" y="0"/>
                </a:lnTo>
                <a:close/>
              </a:path>
            </a:pathLst>
          </a:custGeom>
          <a:blipFill>
            <a:blip>
              <a:extLst>
                <a:ext uri="{96DAC541-7B7A-43D3-8B79-37D633B846F1}">
                  <asvg:svgBlip xmlns:asvg="http://schemas.microsoft.com/office/drawing/2016/SVG/main" r:embed="rId3"/>
                </a:ext>
              </a:extLst>
            </a:blip>
            <a:stretch>
              <a:fillRect l="-19959" t="-228227"/>
            </a:stretch>
          </a:blipFill>
          <a:ln cap="sq">
            <a:noFill/>
            <a:prstDash val="solid"/>
            <a:miter/>
          </a:ln>
        </p:spPr>
      </p:sp>
      <p:sp>
        <p:nvSpPr>
          <p:cNvPr id="8" name="Freeform 8"/>
          <p:cNvSpPr/>
          <p:nvPr/>
        </p:nvSpPr>
        <p:spPr>
          <a:xfrm>
            <a:off x="1428419" y="4427904"/>
            <a:ext cx="15431162" cy="4362689"/>
          </a:xfrm>
          <a:custGeom>
            <a:avLst/>
            <a:gdLst/>
            <a:ahLst/>
            <a:cxnLst/>
            <a:rect l="l" t="t" r="r" b="b"/>
            <a:pathLst>
              <a:path w="15431162" h="4362689">
                <a:moveTo>
                  <a:pt x="0" y="0"/>
                </a:moveTo>
                <a:lnTo>
                  <a:pt x="15431162" y="0"/>
                </a:lnTo>
                <a:lnTo>
                  <a:pt x="15431162" y="4362689"/>
                </a:lnTo>
                <a:lnTo>
                  <a:pt x="0" y="4362689"/>
                </a:lnTo>
                <a:lnTo>
                  <a:pt x="0" y="0"/>
                </a:lnTo>
                <a:close/>
              </a:path>
            </a:pathLst>
          </a:custGeom>
          <a:blipFill>
            <a:blip r:embed="rId4"/>
            <a:stretch>
              <a:fillRect l="-12756" r="-12756"/>
            </a:stretch>
          </a:blipFill>
        </p:spPr>
      </p:sp>
      <p:sp>
        <p:nvSpPr>
          <p:cNvPr id="9" name="TextBox 9"/>
          <p:cNvSpPr txBox="1"/>
          <p:nvPr/>
        </p:nvSpPr>
        <p:spPr>
          <a:xfrm>
            <a:off x="3364386" y="-87746"/>
            <a:ext cx="11981504" cy="2061443"/>
          </a:xfrm>
          <a:prstGeom prst="rect">
            <a:avLst/>
          </a:prstGeom>
        </p:spPr>
        <p:txBody>
          <a:bodyPr lIns="0" tIns="0" rIns="0" bIns="0" rtlCol="0" anchor="t">
            <a:spAutoFit/>
          </a:bodyPr>
          <a:lstStyle/>
          <a:p>
            <a:pPr algn="ctr">
              <a:lnSpc>
                <a:spcPts val="12319"/>
              </a:lnSpc>
              <a:spcBef>
                <a:spcPct val="0"/>
              </a:spcBef>
            </a:pPr>
            <a:r>
              <a:rPr lang="en-US" sz="8799">
                <a:solidFill>
                  <a:srgbClr val="5170FF"/>
                </a:solidFill>
                <a:latin typeface="เอฟซี โอนิกิริ"/>
                <a:ea typeface="เอฟซี โอนิกิริ"/>
                <a:cs typeface="เอฟซี โอนิกิริ"/>
                <a:sym typeface="เอฟซี โอนิกิริ"/>
              </a:rPr>
              <a:t>PEMBAGIAN TUGAS KELOMPOK</a:t>
            </a:r>
          </a:p>
        </p:txBody>
      </p:sp>
      <p:sp>
        <p:nvSpPr>
          <p:cNvPr id="10" name="Freeform 10"/>
          <p:cNvSpPr/>
          <p:nvPr/>
        </p:nvSpPr>
        <p:spPr>
          <a:xfrm rot="410595">
            <a:off x="-764852" y="905639"/>
            <a:ext cx="4668178" cy="2264066"/>
          </a:xfrm>
          <a:custGeom>
            <a:avLst/>
            <a:gdLst/>
            <a:ahLst/>
            <a:cxnLst/>
            <a:rect l="l" t="t" r="r" b="b"/>
            <a:pathLst>
              <a:path w="4668178" h="2264066">
                <a:moveTo>
                  <a:pt x="0" y="0"/>
                </a:moveTo>
                <a:lnTo>
                  <a:pt x="4668178" y="0"/>
                </a:lnTo>
                <a:lnTo>
                  <a:pt x="4668178" y="2264067"/>
                </a:lnTo>
                <a:lnTo>
                  <a:pt x="0" y="22640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11"/>
          <p:cNvSpPr/>
          <p:nvPr/>
        </p:nvSpPr>
        <p:spPr>
          <a:xfrm flipH="1">
            <a:off x="14010827" y="-41994"/>
            <a:ext cx="4528929" cy="3877895"/>
          </a:xfrm>
          <a:custGeom>
            <a:avLst/>
            <a:gdLst/>
            <a:ahLst/>
            <a:cxnLst/>
            <a:rect l="l" t="t" r="r" b="b"/>
            <a:pathLst>
              <a:path w="4528929" h="3877895">
                <a:moveTo>
                  <a:pt x="4528929" y="0"/>
                </a:moveTo>
                <a:lnTo>
                  <a:pt x="0" y="0"/>
                </a:lnTo>
                <a:lnTo>
                  <a:pt x="0" y="3877896"/>
                </a:lnTo>
                <a:lnTo>
                  <a:pt x="4528929" y="3877896"/>
                </a:lnTo>
                <a:lnTo>
                  <a:pt x="4528929"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30480" y="1181100"/>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372617" y="1286286"/>
            <a:ext cx="13773389" cy="8229600"/>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6608649" y="1709568"/>
            <a:ext cx="11872038" cy="6413319"/>
          </a:xfrm>
          <a:custGeom>
            <a:avLst/>
            <a:gdLst/>
            <a:ahLst/>
            <a:cxnLst/>
            <a:rect l="l" t="t" r="r" b="b"/>
            <a:pathLst>
              <a:path w="11872038" h="6413319">
                <a:moveTo>
                  <a:pt x="0" y="0"/>
                </a:moveTo>
                <a:lnTo>
                  <a:pt x="11872038" y="0"/>
                </a:lnTo>
                <a:lnTo>
                  <a:pt x="11872038" y="6413319"/>
                </a:lnTo>
                <a:lnTo>
                  <a:pt x="0" y="6413319"/>
                </a:lnTo>
                <a:lnTo>
                  <a:pt x="0" y="0"/>
                </a:lnTo>
                <a:close/>
              </a:path>
            </a:pathLst>
          </a:custGeom>
          <a:blipFill>
            <a:blip>
              <a:extLst>
                <a:ext uri="{96DAC541-7B7A-43D3-8B79-37D633B846F1}">
                  <asvg:svgBlip xmlns:asvg="http://schemas.microsoft.com/office/drawing/2016/SVG/main" r:embed="rId3"/>
                </a:ext>
              </a:extLst>
            </a:blip>
            <a:stretch>
              <a:fillRect l="-19959" b="-63216"/>
            </a:stretch>
          </a:blipFill>
          <a:ln cap="sq">
            <a:noFill/>
            <a:prstDash val="solid"/>
            <a:miter/>
          </a:ln>
        </p:spPr>
      </p:sp>
      <p:sp>
        <p:nvSpPr>
          <p:cNvPr id="5" name="Freeform 5"/>
          <p:cNvSpPr/>
          <p:nvPr/>
        </p:nvSpPr>
        <p:spPr>
          <a:xfrm>
            <a:off x="0" y="1709568"/>
            <a:ext cx="11872038" cy="6413319"/>
          </a:xfrm>
          <a:custGeom>
            <a:avLst/>
            <a:gdLst/>
            <a:ahLst/>
            <a:cxnLst/>
            <a:rect l="l" t="t" r="r" b="b"/>
            <a:pathLst>
              <a:path w="11872038" h="6413319">
                <a:moveTo>
                  <a:pt x="0" y="0"/>
                </a:moveTo>
                <a:lnTo>
                  <a:pt x="11872038" y="0"/>
                </a:lnTo>
                <a:lnTo>
                  <a:pt x="11872038" y="6413319"/>
                </a:lnTo>
                <a:lnTo>
                  <a:pt x="0" y="6413319"/>
                </a:lnTo>
                <a:lnTo>
                  <a:pt x="0" y="0"/>
                </a:lnTo>
                <a:close/>
              </a:path>
            </a:pathLst>
          </a:custGeom>
          <a:blipFill>
            <a:blip>
              <a:extLst>
                <a:ext uri="{96DAC541-7B7A-43D3-8B79-37D633B846F1}">
                  <asvg:svgBlip xmlns:asvg="http://schemas.microsoft.com/office/drawing/2016/SVG/main" r:embed="rId3"/>
                </a:ext>
              </a:extLst>
            </a:blip>
            <a:stretch>
              <a:fillRect r="-19959" b="-63216"/>
            </a:stretch>
          </a:blipFill>
          <a:ln cap="sq">
            <a:noFill/>
            <a:prstDash val="solid"/>
            <a:miter/>
          </a:ln>
        </p:spPr>
      </p:sp>
      <p:sp>
        <p:nvSpPr>
          <p:cNvPr id="6" name="Freeform 6"/>
          <p:cNvSpPr/>
          <p:nvPr/>
        </p:nvSpPr>
        <p:spPr>
          <a:xfrm>
            <a:off x="0" y="6887905"/>
            <a:ext cx="10741980" cy="2885566"/>
          </a:xfrm>
          <a:custGeom>
            <a:avLst/>
            <a:gdLst/>
            <a:ahLst/>
            <a:cxnLst/>
            <a:rect l="l" t="t" r="r" b="b"/>
            <a:pathLst>
              <a:path w="10741980" h="2885566">
                <a:moveTo>
                  <a:pt x="0" y="0"/>
                </a:moveTo>
                <a:lnTo>
                  <a:pt x="10741980" y="0"/>
                </a:lnTo>
                <a:lnTo>
                  <a:pt x="10741980" y="2885566"/>
                </a:lnTo>
                <a:lnTo>
                  <a:pt x="0" y="2885566"/>
                </a:lnTo>
                <a:lnTo>
                  <a:pt x="0" y="0"/>
                </a:lnTo>
                <a:close/>
              </a:path>
            </a:pathLst>
          </a:custGeom>
          <a:blipFill>
            <a:blip>
              <a:extLst>
                <a:ext uri="{96DAC541-7B7A-43D3-8B79-37D633B846F1}">
                  <asvg:svgBlip xmlns:asvg="http://schemas.microsoft.com/office/drawing/2016/SVG/main" r:embed="rId3"/>
                </a:ext>
              </a:extLst>
            </a:blip>
            <a:stretch>
              <a:fillRect t="-228227" r="-19959"/>
            </a:stretch>
          </a:blipFill>
          <a:ln cap="sq">
            <a:noFill/>
            <a:prstDash val="solid"/>
            <a:miter/>
          </a:ln>
        </p:spPr>
      </p:sp>
      <p:sp>
        <p:nvSpPr>
          <p:cNvPr id="7" name="Freeform 7"/>
          <p:cNvSpPr/>
          <p:nvPr/>
        </p:nvSpPr>
        <p:spPr>
          <a:xfrm>
            <a:off x="7780619" y="6880903"/>
            <a:ext cx="10741980" cy="2885566"/>
          </a:xfrm>
          <a:custGeom>
            <a:avLst/>
            <a:gdLst/>
            <a:ahLst/>
            <a:cxnLst/>
            <a:rect l="l" t="t" r="r" b="b"/>
            <a:pathLst>
              <a:path w="10741980" h="2885566">
                <a:moveTo>
                  <a:pt x="0" y="0"/>
                </a:moveTo>
                <a:lnTo>
                  <a:pt x="10741980" y="0"/>
                </a:lnTo>
                <a:lnTo>
                  <a:pt x="10741980" y="2885566"/>
                </a:lnTo>
                <a:lnTo>
                  <a:pt x="0" y="2885566"/>
                </a:lnTo>
                <a:lnTo>
                  <a:pt x="0" y="0"/>
                </a:lnTo>
                <a:close/>
              </a:path>
            </a:pathLst>
          </a:custGeom>
          <a:blipFill>
            <a:blip>
              <a:extLst>
                <a:ext uri="{96DAC541-7B7A-43D3-8B79-37D633B846F1}">
                  <asvg:svgBlip xmlns:asvg="http://schemas.microsoft.com/office/drawing/2016/SVG/main" r:embed="rId3"/>
                </a:ext>
              </a:extLst>
            </a:blip>
            <a:stretch>
              <a:fillRect l="-19959" t="-228227"/>
            </a:stretch>
          </a:blipFill>
          <a:ln cap="sq">
            <a:noFill/>
            <a:prstDash val="solid"/>
            <a:miter/>
          </a:ln>
        </p:spPr>
      </p:sp>
      <p:sp>
        <p:nvSpPr>
          <p:cNvPr id="8" name="TextBox 8"/>
          <p:cNvSpPr txBox="1"/>
          <p:nvPr/>
        </p:nvSpPr>
        <p:spPr>
          <a:xfrm>
            <a:off x="6608649" y="342465"/>
            <a:ext cx="5990687" cy="2012367"/>
          </a:xfrm>
          <a:prstGeom prst="rect">
            <a:avLst/>
          </a:prstGeom>
        </p:spPr>
        <p:txBody>
          <a:bodyPr lIns="0" tIns="0" rIns="0" bIns="0" rtlCol="0" anchor="t">
            <a:spAutoFit/>
          </a:bodyPr>
          <a:lstStyle/>
          <a:p>
            <a:pPr algn="ctr">
              <a:lnSpc>
                <a:spcPts val="14279"/>
              </a:lnSpc>
              <a:spcBef>
                <a:spcPct val="0"/>
              </a:spcBef>
            </a:pPr>
            <a:r>
              <a:rPr lang="en-US" sz="10199">
                <a:solidFill>
                  <a:srgbClr val="5170FF"/>
                </a:solidFill>
                <a:latin typeface="เอฟซี โอนิกิริ"/>
                <a:ea typeface="เอฟซี โอนิกิริ"/>
                <a:cs typeface="เอฟซี โอนิกิริ"/>
                <a:sym typeface="เอฟซี โอนิกิริ"/>
              </a:rPr>
              <a:t>KESIMPULAN</a:t>
            </a:r>
          </a:p>
        </p:txBody>
      </p:sp>
      <p:sp>
        <p:nvSpPr>
          <p:cNvPr id="9" name="TextBox 9"/>
          <p:cNvSpPr txBox="1"/>
          <p:nvPr/>
        </p:nvSpPr>
        <p:spPr>
          <a:xfrm>
            <a:off x="1028700" y="4275634"/>
            <a:ext cx="16737332" cy="4348419"/>
          </a:xfrm>
          <a:prstGeom prst="rect">
            <a:avLst/>
          </a:prstGeom>
        </p:spPr>
        <p:txBody>
          <a:bodyPr lIns="0" tIns="0" rIns="0" bIns="0" rtlCol="0" anchor="t">
            <a:spAutoFit/>
          </a:bodyPr>
          <a:lstStyle/>
          <a:p>
            <a:pPr algn="ctr">
              <a:lnSpc>
                <a:spcPts val="4329"/>
              </a:lnSpc>
            </a:pPr>
            <a:r>
              <a:rPr lang="en-US" sz="2405" b="1">
                <a:solidFill>
                  <a:srgbClr val="000000"/>
                </a:solidFill>
                <a:latin typeface="Quicksand Bold"/>
                <a:ea typeface="Quicksand Bold"/>
                <a:cs typeface="Quicksand Bold"/>
                <a:sym typeface="Quicksand Bold"/>
              </a:rPr>
              <a:t>Sistem Rumah Sakit Digital telah berhasil dibuat menggunakan bahasa pemrograman C++, dengan berbagai fitur yang lengkap untuk mengurus data pasien, jadwal dokter, antrean pelayanan, proses rujukan, serta riwayat pemeriksaan pasien.</a:t>
            </a:r>
          </a:p>
          <a:p>
            <a:pPr algn="ctr">
              <a:lnSpc>
                <a:spcPts val="4329"/>
              </a:lnSpc>
            </a:pPr>
            <a:endParaRPr lang="en-US" sz="2405" b="1">
              <a:solidFill>
                <a:srgbClr val="000000"/>
              </a:solidFill>
              <a:latin typeface="Quicksand Bold"/>
              <a:ea typeface="Quicksand Bold"/>
              <a:cs typeface="Quicksand Bold"/>
              <a:sym typeface="Quicksand Bold"/>
            </a:endParaRPr>
          </a:p>
          <a:p>
            <a:pPr algn="ctr">
              <a:lnSpc>
                <a:spcPts val="4329"/>
              </a:lnSpc>
            </a:pPr>
            <a:r>
              <a:rPr lang="en-US" sz="2405" b="1">
                <a:solidFill>
                  <a:srgbClr val="000000"/>
                </a:solidFill>
                <a:latin typeface="Quicksand Bold"/>
                <a:ea typeface="Quicksand Bold"/>
                <a:cs typeface="Quicksand Bold"/>
                <a:sym typeface="Quicksand Bold"/>
              </a:rPr>
              <a:t>Sistem dikembangkan dengan menggunakan konsep struktur data seperti Struct, Array, dan Queue serta algoritma Sequential Search dan Bubble Sort, sehingga membuat pengelolaan data menjadi lebih rapi dan efisien. Melalui proyek ini, para anggota kelompok mempelajari cara menerapkan algoritma dan struktur data dalam kasus studi yang nyata, sekaligus mengalami kerja sama dalam tim menggunakan platform GitHub.</a:t>
            </a:r>
          </a:p>
        </p:txBody>
      </p:sp>
      <p:sp>
        <p:nvSpPr>
          <p:cNvPr id="10" name="Freeform 10"/>
          <p:cNvSpPr/>
          <p:nvPr/>
        </p:nvSpPr>
        <p:spPr>
          <a:xfrm rot="-407473">
            <a:off x="14466980" y="220528"/>
            <a:ext cx="3878817" cy="2511534"/>
          </a:xfrm>
          <a:custGeom>
            <a:avLst/>
            <a:gdLst/>
            <a:ahLst/>
            <a:cxnLst/>
            <a:rect l="l" t="t" r="r" b="b"/>
            <a:pathLst>
              <a:path w="3878817" h="2511534">
                <a:moveTo>
                  <a:pt x="0" y="0"/>
                </a:moveTo>
                <a:lnTo>
                  <a:pt x="3878818" y="0"/>
                </a:lnTo>
                <a:lnTo>
                  <a:pt x="3878818" y="2511534"/>
                </a:lnTo>
                <a:lnTo>
                  <a:pt x="0" y="2511534"/>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2CDFF"/>
        </a:solidFill>
        <a:effectLst/>
      </p:bgPr>
    </p:bg>
    <p:spTree>
      <p:nvGrpSpPr>
        <p:cNvPr id="1" name=""/>
        <p:cNvGrpSpPr/>
        <p:nvPr/>
      </p:nvGrpSpPr>
      <p:grpSpPr>
        <a:xfrm>
          <a:off x="0" y="0"/>
          <a:ext cx="0" cy="0"/>
          <a:chOff x="0" y="0"/>
          <a:chExt cx="0" cy="0"/>
        </a:xfrm>
      </p:grpSpPr>
      <p:sp>
        <p:nvSpPr>
          <p:cNvPr id="2" name="Freeform 2"/>
          <p:cNvSpPr/>
          <p:nvPr/>
        </p:nvSpPr>
        <p:spPr>
          <a:xfrm>
            <a:off x="198935" y="908491"/>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695421" y="1506947"/>
            <a:ext cx="13773389" cy="8229600"/>
          </a:xfrm>
          <a:custGeom>
            <a:avLst/>
            <a:gdLst/>
            <a:ahLst/>
            <a:cxnLst/>
            <a:rect l="l" t="t" r="r" b="b"/>
            <a:pathLst>
              <a:path w="13773389" h="8229600">
                <a:moveTo>
                  <a:pt x="0" y="0"/>
                </a:moveTo>
                <a:lnTo>
                  <a:pt x="13773390" y="0"/>
                </a:lnTo>
                <a:lnTo>
                  <a:pt x="13773390" y="8229600"/>
                </a:lnTo>
                <a:lnTo>
                  <a:pt x="0" y="82296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74962" y="1253357"/>
            <a:ext cx="10585423" cy="7780286"/>
          </a:xfrm>
          <a:custGeom>
            <a:avLst/>
            <a:gdLst/>
            <a:ahLst/>
            <a:cxnLst/>
            <a:rect l="l" t="t" r="r" b="b"/>
            <a:pathLst>
              <a:path w="10585423" h="7780286">
                <a:moveTo>
                  <a:pt x="0" y="0"/>
                </a:moveTo>
                <a:lnTo>
                  <a:pt x="10585423" y="0"/>
                </a:lnTo>
                <a:lnTo>
                  <a:pt x="10585423" y="7780286"/>
                </a:lnTo>
                <a:lnTo>
                  <a:pt x="0" y="77802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8105666" y="1253357"/>
            <a:ext cx="8824174" cy="7780286"/>
          </a:xfrm>
          <a:custGeom>
            <a:avLst/>
            <a:gdLst/>
            <a:ahLst/>
            <a:cxnLst/>
            <a:rect l="l" t="t" r="r" b="b"/>
            <a:pathLst>
              <a:path w="8824174" h="7780286">
                <a:moveTo>
                  <a:pt x="0" y="0"/>
                </a:moveTo>
                <a:lnTo>
                  <a:pt x="8824174" y="0"/>
                </a:lnTo>
                <a:lnTo>
                  <a:pt x="8824174" y="7780286"/>
                </a:lnTo>
                <a:lnTo>
                  <a:pt x="0" y="7780286"/>
                </a:lnTo>
                <a:lnTo>
                  <a:pt x="0" y="0"/>
                </a:lnTo>
                <a:close/>
              </a:path>
            </a:pathLst>
          </a:custGeom>
          <a:blipFill>
            <a:blip>
              <a:extLst>
                <a:ext uri="{96DAC541-7B7A-43D3-8B79-37D633B846F1}">
                  <asvg:svgBlip xmlns:asvg="http://schemas.microsoft.com/office/drawing/2016/SVG/main" r:embed="rId3"/>
                </a:ext>
              </a:extLst>
            </a:blip>
            <a:stretch>
              <a:fillRect l="-19959"/>
            </a:stretch>
          </a:blipFill>
          <a:ln cap="sq">
            <a:noFill/>
            <a:prstDash val="solid"/>
            <a:miter/>
          </a:ln>
        </p:spPr>
      </p:sp>
      <p:sp>
        <p:nvSpPr>
          <p:cNvPr id="6" name="Freeform 6"/>
          <p:cNvSpPr/>
          <p:nvPr/>
        </p:nvSpPr>
        <p:spPr>
          <a:xfrm flipH="1">
            <a:off x="13903786" y="5858652"/>
            <a:ext cx="4528929" cy="3877895"/>
          </a:xfrm>
          <a:custGeom>
            <a:avLst/>
            <a:gdLst/>
            <a:ahLst/>
            <a:cxnLst/>
            <a:rect l="l" t="t" r="r" b="b"/>
            <a:pathLst>
              <a:path w="4528929" h="3877895">
                <a:moveTo>
                  <a:pt x="4528929" y="0"/>
                </a:moveTo>
                <a:lnTo>
                  <a:pt x="0" y="0"/>
                </a:lnTo>
                <a:lnTo>
                  <a:pt x="0" y="3877895"/>
                </a:lnTo>
                <a:lnTo>
                  <a:pt x="4528929" y="3877895"/>
                </a:lnTo>
                <a:lnTo>
                  <a:pt x="4528929"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119749" y="3107167"/>
            <a:ext cx="14048502" cy="4353277"/>
          </a:xfrm>
          <a:prstGeom prst="rect">
            <a:avLst/>
          </a:prstGeom>
        </p:spPr>
        <p:txBody>
          <a:bodyPr lIns="0" tIns="0" rIns="0" bIns="0" rtlCol="0" anchor="t">
            <a:spAutoFit/>
          </a:bodyPr>
          <a:lstStyle/>
          <a:p>
            <a:pPr algn="ctr">
              <a:lnSpc>
                <a:spcPts val="30043"/>
              </a:lnSpc>
              <a:spcBef>
                <a:spcPct val="0"/>
              </a:spcBef>
            </a:pPr>
            <a:r>
              <a:rPr lang="en-US" sz="21459">
                <a:solidFill>
                  <a:srgbClr val="5170FF"/>
                </a:solidFill>
                <a:latin typeface="เอฟซี โอนิกิริ"/>
                <a:ea typeface="เอฟซี โอนิกิริ"/>
                <a:cs typeface="เอฟซี โอนิกิริ"/>
                <a:sym typeface="เอฟซี โอนิกิริ"/>
              </a:rPr>
              <a:t>TERIMA KASIH</a:t>
            </a:r>
          </a:p>
        </p:txBody>
      </p:sp>
      <p:sp>
        <p:nvSpPr>
          <p:cNvPr id="8" name="Freeform 8"/>
          <p:cNvSpPr/>
          <p:nvPr/>
        </p:nvSpPr>
        <p:spPr>
          <a:xfrm>
            <a:off x="8221062" y="1529259"/>
            <a:ext cx="1845875" cy="1987484"/>
          </a:xfrm>
          <a:custGeom>
            <a:avLst/>
            <a:gdLst/>
            <a:ahLst/>
            <a:cxnLst/>
            <a:rect l="l" t="t" r="r" b="b"/>
            <a:pathLst>
              <a:path w="1845875" h="1987484">
                <a:moveTo>
                  <a:pt x="0" y="0"/>
                </a:moveTo>
                <a:lnTo>
                  <a:pt x="1845876" y="0"/>
                </a:lnTo>
                <a:lnTo>
                  <a:pt x="1845876" y="1987483"/>
                </a:lnTo>
                <a:lnTo>
                  <a:pt x="0" y="1987483"/>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9" name="Freeform 9"/>
          <p:cNvSpPr/>
          <p:nvPr/>
        </p:nvSpPr>
        <p:spPr>
          <a:xfrm rot="410595">
            <a:off x="603915" y="7231154"/>
            <a:ext cx="5043105" cy="2445906"/>
          </a:xfrm>
          <a:custGeom>
            <a:avLst/>
            <a:gdLst/>
            <a:ahLst/>
            <a:cxnLst/>
            <a:rect l="l" t="t" r="r" b="b"/>
            <a:pathLst>
              <a:path w="5043105" h="2445906">
                <a:moveTo>
                  <a:pt x="0" y="0"/>
                </a:moveTo>
                <a:lnTo>
                  <a:pt x="5043105" y="0"/>
                </a:lnTo>
                <a:lnTo>
                  <a:pt x="5043105" y="2445905"/>
                </a:lnTo>
                <a:lnTo>
                  <a:pt x="0" y="2445905"/>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541</Words>
  <Application>Microsoft Office PowerPoint</Application>
  <PresentationFormat>Custom</PresentationFormat>
  <Paragraphs>47</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เอฟซี โอนิกิริ</vt:lpstr>
      <vt:lpstr>Arial</vt:lpstr>
      <vt:lpstr>Quicksand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Informatika Dunia Digital Presentasi</dc:title>
  <dc:creator>asus</dc:creator>
  <cp:lastModifiedBy>muhamad igna</cp:lastModifiedBy>
  <cp:revision>3</cp:revision>
  <dcterms:created xsi:type="dcterms:W3CDTF">2006-08-16T00:00:00Z</dcterms:created>
  <dcterms:modified xsi:type="dcterms:W3CDTF">2026-06-24T13:26:42Z</dcterms:modified>
  <dc:identifier>DAHNdYdgNj4</dc:identifier>
</cp:coreProperties>
</file>